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378" y="3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421429"/>
            <a:ext cx="2008505" cy="2865755"/>
          </a:xfrm>
          <a:custGeom>
            <a:avLst/>
            <a:gdLst/>
            <a:ahLst/>
            <a:cxnLst/>
            <a:rect l="l" t="t" r="r" b="b"/>
            <a:pathLst>
              <a:path w="2008505" h="2865754">
                <a:moveTo>
                  <a:pt x="189424" y="606246"/>
                </a:moveTo>
                <a:lnTo>
                  <a:pt x="153407" y="606246"/>
                </a:lnTo>
                <a:lnTo>
                  <a:pt x="153407" y="15620"/>
                </a:lnTo>
                <a:lnTo>
                  <a:pt x="169027" y="0"/>
                </a:lnTo>
                <a:lnTo>
                  <a:pt x="173803" y="0"/>
                </a:lnTo>
                <a:lnTo>
                  <a:pt x="189424" y="606246"/>
                </a:lnTo>
                <a:close/>
              </a:path>
              <a:path w="2008505" h="2865754">
                <a:moveTo>
                  <a:pt x="795670" y="606246"/>
                </a:moveTo>
                <a:lnTo>
                  <a:pt x="759653" y="606246"/>
                </a:lnTo>
                <a:lnTo>
                  <a:pt x="759653" y="15620"/>
                </a:lnTo>
                <a:lnTo>
                  <a:pt x="775273" y="0"/>
                </a:lnTo>
                <a:lnTo>
                  <a:pt x="780049" y="0"/>
                </a:lnTo>
                <a:lnTo>
                  <a:pt x="795670" y="606246"/>
                </a:lnTo>
                <a:close/>
              </a:path>
              <a:path w="2008505" h="2865754">
                <a:moveTo>
                  <a:pt x="1402006" y="606246"/>
                </a:moveTo>
                <a:lnTo>
                  <a:pt x="1365990" y="606246"/>
                </a:lnTo>
                <a:lnTo>
                  <a:pt x="1365990" y="15620"/>
                </a:lnTo>
                <a:lnTo>
                  <a:pt x="1381610" y="0"/>
                </a:lnTo>
                <a:lnTo>
                  <a:pt x="1386386" y="0"/>
                </a:lnTo>
                <a:lnTo>
                  <a:pt x="1402006" y="606246"/>
                </a:lnTo>
                <a:close/>
              </a:path>
              <a:path w="2008505" h="2865754">
                <a:moveTo>
                  <a:pt x="1992632" y="642262"/>
                </a:moveTo>
                <a:lnTo>
                  <a:pt x="0" y="642262"/>
                </a:lnTo>
                <a:lnTo>
                  <a:pt x="0" y="606246"/>
                </a:lnTo>
                <a:lnTo>
                  <a:pt x="1992632" y="606246"/>
                </a:lnTo>
                <a:lnTo>
                  <a:pt x="1994929" y="606703"/>
                </a:lnTo>
                <a:lnTo>
                  <a:pt x="2008252" y="621866"/>
                </a:lnTo>
                <a:lnTo>
                  <a:pt x="2008252" y="626642"/>
                </a:lnTo>
                <a:lnTo>
                  <a:pt x="1992632" y="642262"/>
                </a:lnTo>
                <a:close/>
              </a:path>
              <a:path w="2008505" h="2865754">
                <a:moveTo>
                  <a:pt x="189424" y="1212582"/>
                </a:moveTo>
                <a:lnTo>
                  <a:pt x="153407" y="1212582"/>
                </a:lnTo>
                <a:lnTo>
                  <a:pt x="153407" y="642262"/>
                </a:lnTo>
                <a:lnTo>
                  <a:pt x="189424" y="642262"/>
                </a:lnTo>
                <a:lnTo>
                  <a:pt x="189424" y="1212582"/>
                </a:lnTo>
                <a:close/>
              </a:path>
              <a:path w="2008505" h="2865754">
                <a:moveTo>
                  <a:pt x="795670" y="1212582"/>
                </a:moveTo>
                <a:lnTo>
                  <a:pt x="759654" y="1212582"/>
                </a:lnTo>
                <a:lnTo>
                  <a:pt x="759654" y="642262"/>
                </a:lnTo>
                <a:lnTo>
                  <a:pt x="795670" y="642262"/>
                </a:lnTo>
                <a:lnTo>
                  <a:pt x="795670" y="1212582"/>
                </a:lnTo>
                <a:close/>
              </a:path>
              <a:path w="2008505" h="2865754">
                <a:moveTo>
                  <a:pt x="1402006" y="1212582"/>
                </a:moveTo>
                <a:lnTo>
                  <a:pt x="1365990" y="1212582"/>
                </a:lnTo>
                <a:lnTo>
                  <a:pt x="1365990" y="642262"/>
                </a:lnTo>
                <a:lnTo>
                  <a:pt x="1402006" y="642262"/>
                </a:lnTo>
                <a:lnTo>
                  <a:pt x="1402006" y="1212582"/>
                </a:lnTo>
                <a:close/>
              </a:path>
              <a:path w="2008505" h="2865754">
                <a:moveTo>
                  <a:pt x="1992632" y="1248598"/>
                </a:moveTo>
                <a:lnTo>
                  <a:pt x="0" y="1248598"/>
                </a:lnTo>
                <a:lnTo>
                  <a:pt x="0" y="1212582"/>
                </a:lnTo>
                <a:lnTo>
                  <a:pt x="1992632" y="1212582"/>
                </a:lnTo>
                <a:lnTo>
                  <a:pt x="1994929" y="1213039"/>
                </a:lnTo>
                <a:lnTo>
                  <a:pt x="2008252" y="1228202"/>
                </a:lnTo>
                <a:lnTo>
                  <a:pt x="2008252" y="1232978"/>
                </a:lnTo>
                <a:lnTo>
                  <a:pt x="1992632" y="1248598"/>
                </a:lnTo>
                <a:close/>
              </a:path>
              <a:path w="2008505" h="2865754">
                <a:moveTo>
                  <a:pt x="189424" y="1818828"/>
                </a:moveTo>
                <a:lnTo>
                  <a:pt x="153407" y="1818828"/>
                </a:lnTo>
                <a:lnTo>
                  <a:pt x="153407" y="1248598"/>
                </a:lnTo>
                <a:lnTo>
                  <a:pt x="189424" y="1248598"/>
                </a:lnTo>
                <a:lnTo>
                  <a:pt x="189424" y="1818828"/>
                </a:lnTo>
                <a:close/>
              </a:path>
              <a:path w="2008505" h="2865754">
                <a:moveTo>
                  <a:pt x="795670" y="1818828"/>
                </a:moveTo>
                <a:lnTo>
                  <a:pt x="759654" y="1818828"/>
                </a:lnTo>
                <a:lnTo>
                  <a:pt x="759654" y="1248598"/>
                </a:lnTo>
                <a:lnTo>
                  <a:pt x="795670" y="1248598"/>
                </a:lnTo>
                <a:lnTo>
                  <a:pt x="795670" y="1818828"/>
                </a:lnTo>
                <a:close/>
              </a:path>
              <a:path w="2008505" h="2865754">
                <a:moveTo>
                  <a:pt x="1402006" y="1818828"/>
                </a:moveTo>
                <a:lnTo>
                  <a:pt x="1365990" y="1818828"/>
                </a:lnTo>
                <a:lnTo>
                  <a:pt x="1365990" y="1248598"/>
                </a:lnTo>
                <a:lnTo>
                  <a:pt x="1402006" y="1248598"/>
                </a:lnTo>
                <a:lnTo>
                  <a:pt x="1402006" y="1818828"/>
                </a:lnTo>
                <a:close/>
              </a:path>
              <a:path w="2008505" h="2865754">
                <a:moveTo>
                  <a:pt x="1992632" y="1854844"/>
                </a:moveTo>
                <a:lnTo>
                  <a:pt x="0" y="1854844"/>
                </a:lnTo>
                <a:lnTo>
                  <a:pt x="0" y="1818828"/>
                </a:lnTo>
                <a:lnTo>
                  <a:pt x="1992631" y="1818828"/>
                </a:lnTo>
                <a:lnTo>
                  <a:pt x="1994929" y="1819285"/>
                </a:lnTo>
                <a:lnTo>
                  <a:pt x="2008252" y="1834448"/>
                </a:lnTo>
                <a:lnTo>
                  <a:pt x="2008252" y="1839224"/>
                </a:lnTo>
                <a:lnTo>
                  <a:pt x="1992632" y="1854844"/>
                </a:lnTo>
                <a:close/>
              </a:path>
              <a:path w="2008505" h="2865754">
                <a:moveTo>
                  <a:pt x="189424" y="2425074"/>
                </a:moveTo>
                <a:lnTo>
                  <a:pt x="153407" y="2425074"/>
                </a:lnTo>
                <a:lnTo>
                  <a:pt x="153407" y="1854844"/>
                </a:lnTo>
                <a:lnTo>
                  <a:pt x="189424" y="1854844"/>
                </a:lnTo>
                <a:lnTo>
                  <a:pt x="189424" y="2425074"/>
                </a:lnTo>
                <a:close/>
              </a:path>
              <a:path w="2008505" h="2865754">
                <a:moveTo>
                  <a:pt x="795670" y="2425074"/>
                </a:moveTo>
                <a:lnTo>
                  <a:pt x="759654" y="2425074"/>
                </a:lnTo>
                <a:lnTo>
                  <a:pt x="759654" y="1854844"/>
                </a:lnTo>
                <a:lnTo>
                  <a:pt x="795670" y="1854844"/>
                </a:lnTo>
                <a:lnTo>
                  <a:pt x="795670" y="2425074"/>
                </a:lnTo>
                <a:close/>
              </a:path>
              <a:path w="2008505" h="2865754">
                <a:moveTo>
                  <a:pt x="1402006" y="2425074"/>
                </a:moveTo>
                <a:lnTo>
                  <a:pt x="1365990" y="2425074"/>
                </a:lnTo>
                <a:lnTo>
                  <a:pt x="1365990" y="1854844"/>
                </a:lnTo>
                <a:lnTo>
                  <a:pt x="1402006" y="1854844"/>
                </a:lnTo>
                <a:lnTo>
                  <a:pt x="1402006" y="2425074"/>
                </a:lnTo>
                <a:close/>
              </a:path>
              <a:path w="2008505" h="2865754">
                <a:moveTo>
                  <a:pt x="1992632" y="2461090"/>
                </a:moveTo>
                <a:lnTo>
                  <a:pt x="0" y="2461090"/>
                </a:lnTo>
                <a:lnTo>
                  <a:pt x="0" y="2425074"/>
                </a:lnTo>
                <a:lnTo>
                  <a:pt x="1992632" y="2425074"/>
                </a:lnTo>
                <a:lnTo>
                  <a:pt x="1994929" y="2425531"/>
                </a:lnTo>
                <a:lnTo>
                  <a:pt x="2008252" y="2440694"/>
                </a:lnTo>
                <a:lnTo>
                  <a:pt x="2008252" y="2445470"/>
                </a:lnTo>
                <a:lnTo>
                  <a:pt x="1992632" y="2461090"/>
                </a:lnTo>
                <a:close/>
              </a:path>
              <a:path w="2008505" h="2865754">
                <a:moveTo>
                  <a:pt x="189424" y="2865570"/>
                </a:moveTo>
                <a:lnTo>
                  <a:pt x="153407" y="2865570"/>
                </a:lnTo>
                <a:lnTo>
                  <a:pt x="153407" y="2461090"/>
                </a:lnTo>
                <a:lnTo>
                  <a:pt x="189424" y="2461090"/>
                </a:lnTo>
                <a:lnTo>
                  <a:pt x="189424" y="2865570"/>
                </a:lnTo>
                <a:close/>
              </a:path>
              <a:path w="2008505" h="2865754">
                <a:moveTo>
                  <a:pt x="795670" y="2865570"/>
                </a:moveTo>
                <a:lnTo>
                  <a:pt x="759654" y="2865570"/>
                </a:lnTo>
                <a:lnTo>
                  <a:pt x="759654" y="2461090"/>
                </a:lnTo>
                <a:lnTo>
                  <a:pt x="795670" y="2461090"/>
                </a:lnTo>
                <a:lnTo>
                  <a:pt x="795670" y="2865570"/>
                </a:lnTo>
                <a:close/>
              </a:path>
              <a:path w="2008505" h="2865754">
                <a:moveTo>
                  <a:pt x="1402006" y="2865570"/>
                </a:moveTo>
                <a:lnTo>
                  <a:pt x="1365990" y="2865570"/>
                </a:lnTo>
                <a:lnTo>
                  <a:pt x="1365990" y="2461090"/>
                </a:lnTo>
                <a:lnTo>
                  <a:pt x="1402006" y="2461090"/>
                </a:lnTo>
                <a:lnTo>
                  <a:pt x="1402006" y="2865570"/>
                </a:lnTo>
                <a:close/>
              </a:path>
            </a:pathLst>
          </a:custGeom>
          <a:solidFill>
            <a:srgbClr val="5E8178">
              <a:alpha val="27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8639088"/>
            <a:ext cx="4623435" cy="1648460"/>
          </a:xfrm>
          <a:custGeom>
            <a:avLst/>
            <a:gdLst/>
            <a:ahLst/>
            <a:cxnLst/>
            <a:rect l="l" t="t" r="r" b="b"/>
            <a:pathLst>
              <a:path w="4623435" h="1648459">
                <a:moveTo>
                  <a:pt x="4623120" y="1647911"/>
                </a:moveTo>
                <a:lnTo>
                  <a:pt x="0" y="1647911"/>
                </a:lnTo>
                <a:lnTo>
                  <a:pt x="0" y="0"/>
                </a:lnTo>
                <a:lnTo>
                  <a:pt x="40220" y="14662"/>
                </a:lnTo>
                <a:lnTo>
                  <a:pt x="81004" y="31139"/>
                </a:lnTo>
                <a:lnTo>
                  <a:pt x="122081" y="49333"/>
                </a:lnTo>
                <a:lnTo>
                  <a:pt x="163452" y="69244"/>
                </a:lnTo>
                <a:lnTo>
                  <a:pt x="205117" y="90871"/>
                </a:lnTo>
                <a:lnTo>
                  <a:pt x="247076" y="114215"/>
                </a:lnTo>
                <a:lnTo>
                  <a:pt x="289329" y="139276"/>
                </a:lnTo>
                <a:lnTo>
                  <a:pt x="331876" y="166054"/>
                </a:lnTo>
                <a:lnTo>
                  <a:pt x="374717" y="194548"/>
                </a:lnTo>
                <a:lnTo>
                  <a:pt x="417852" y="224760"/>
                </a:lnTo>
                <a:lnTo>
                  <a:pt x="461280" y="256687"/>
                </a:lnTo>
                <a:lnTo>
                  <a:pt x="505003" y="290332"/>
                </a:lnTo>
                <a:lnTo>
                  <a:pt x="549020" y="325694"/>
                </a:lnTo>
                <a:lnTo>
                  <a:pt x="593330" y="362772"/>
                </a:lnTo>
                <a:lnTo>
                  <a:pt x="637935" y="401567"/>
                </a:lnTo>
                <a:lnTo>
                  <a:pt x="682833" y="442078"/>
                </a:lnTo>
                <a:lnTo>
                  <a:pt x="728025" y="484307"/>
                </a:lnTo>
                <a:lnTo>
                  <a:pt x="770787" y="524301"/>
                </a:lnTo>
                <a:lnTo>
                  <a:pt x="813526" y="562986"/>
                </a:lnTo>
                <a:lnTo>
                  <a:pt x="856243" y="600363"/>
                </a:lnTo>
                <a:lnTo>
                  <a:pt x="898938" y="636432"/>
                </a:lnTo>
                <a:lnTo>
                  <a:pt x="941611" y="671193"/>
                </a:lnTo>
                <a:lnTo>
                  <a:pt x="984262" y="704645"/>
                </a:lnTo>
                <a:lnTo>
                  <a:pt x="1026891" y="736790"/>
                </a:lnTo>
                <a:lnTo>
                  <a:pt x="1069498" y="767625"/>
                </a:lnTo>
                <a:lnTo>
                  <a:pt x="1112083" y="797153"/>
                </a:lnTo>
                <a:lnTo>
                  <a:pt x="1154646" y="825372"/>
                </a:lnTo>
                <a:lnTo>
                  <a:pt x="1197186" y="852283"/>
                </a:lnTo>
                <a:lnTo>
                  <a:pt x="1239705" y="877886"/>
                </a:lnTo>
                <a:lnTo>
                  <a:pt x="1282202" y="902181"/>
                </a:lnTo>
                <a:lnTo>
                  <a:pt x="1324676" y="925167"/>
                </a:lnTo>
                <a:lnTo>
                  <a:pt x="1367129" y="946845"/>
                </a:lnTo>
                <a:lnTo>
                  <a:pt x="1409560" y="967215"/>
                </a:lnTo>
                <a:lnTo>
                  <a:pt x="1451968" y="986276"/>
                </a:lnTo>
                <a:lnTo>
                  <a:pt x="1494355" y="1004029"/>
                </a:lnTo>
                <a:lnTo>
                  <a:pt x="1536719" y="1020474"/>
                </a:lnTo>
                <a:lnTo>
                  <a:pt x="1579061" y="1035611"/>
                </a:lnTo>
                <a:lnTo>
                  <a:pt x="1621382" y="1049439"/>
                </a:lnTo>
                <a:lnTo>
                  <a:pt x="1663680" y="1061959"/>
                </a:lnTo>
                <a:lnTo>
                  <a:pt x="1705957" y="1073171"/>
                </a:lnTo>
                <a:lnTo>
                  <a:pt x="1748211" y="1083074"/>
                </a:lnTo>
                <a:lnTo>
                  <a:pt x="1790443" y="1091669"/>
                </a:lnTo>
                <a:lnTo>
                  <a:pt x="1832653" y="1098956"/>
                </a:lnTo>
                <a:lnTo>
                  <a:pt x="1874841" y="1104935"/>
                </a:lnTo>
                <a:lnTo>
                  <a:pt x="1917008" y="1109605"/>
                </a:lnTo>
                <a:lnTo>
                  <a:pt x="1959152" y="1112968"/>
                </a:lnTo>
                <a:lnTo>
                  <a:pt x="2001274" y="1115021"/>
                </a:lnTo>
                <a:lnTo>
                  <a:pt x="2043374" y="1115767"/>
                </a:lnTo>
                <a:lnTo>
                  <a:pt x="2085452" y="1115204"/>
                </a:lnTo>
                <a:lnTo>
                  <a:pt x="2127508" y="1113333"/>
                </a:lnTo>
                <a:lnTo>
                  <a:pt x="2169542" y="1110154"/>
                </a:lnTo>
                <a:lnTo>
                  <a:pt x="2211554" y="1105667"/>
                </a:lnTo>
                <a:lnTo>
                  <a:pt x="2253543" y="1099871"/>
                </a:lnTo>
                <a:lnTo>
                  <a:pt x="2295511" y="1092767"/>
                </a:lnTo>
                <a:lnTo>
                  <a:pt x="2337457" y="1084355"/>
                </a:lnTo>
                <a:lnTo>
                  <a:pt x="2379381" y="1074634"/>
                </a:lnTo>
                <a:lnTo>
                  <a:pt x="2421283" y="1063605"/>
                </a:lnTo>
                <a:lnTo>
                  <a:pt x="2463162" y="1051268"/>
                </a:lnTo>
                <a:lnTo>
                  <a:pt x="2505020" y="1037623"/>
                </a:lnTo>
                <a:lnTo>
                  <a:pt x="2546856" y="1022669"/>
                </a:lnTo>
                <a:lnTo>
                  <a:pt x="2588669" y="1006407"/>
                </a:lnTo>
                <a:lnTo>
                  <a:pt x="2630461" y="988837"/>
                </a:lnTo>
                <a:lnTo>
                  <a:pt x="2672231" y="969958"/>
                </a:lnTo>
                <a:lnTo>
                  <a:pt x="2713978" y="949772"/>
                </a:lnTo>
                <a:lnTo>
                  <a:pt x="2755704" y="928277"/>
                </a:lnTo>
                <a:lnTo>
                  <a:pt x="2797407" y="905473"/>
                </a:lnTo>
                <a:lnTo>
                  <a:pt x="2839089" y="881362"/>
                </a:lnTo>
                <a:lnTo>
                  <a:pt x="2880748" y="855942"/>
                </a:lnTo>
                <a:lnTo>
                  <a:pt x="2922386" y="829214"/>
                </a:lnTo>
                <a:lnTo>
                  <a:pt x="3014891" y="766812"/>
                </a:lnTo>
                <a:lnTo>
                  <a:pt x="3065001" y="734441"/>
                </a:lnTo>
                <a:lnTo>
                  <a:pt x="3114332" y="704065"/>
                </a:lnTo>
                <a:lnTo>
                  <a:pt x="3162884" y="675683"/>
                </a:lnTo>
                <a:lnTo>
                  <a:pt x="3210656" y="649297"/>
                </a:lnTo>
                <a:lnTo>
                  <a:pt x="3257648" y="624905"/>
                </a:lnTo>
                <a:lnTo>
                  <a:pt x="3303862" y="602509"/>
                </a:lnTo>
                <a:lnTo>
                  <a:pt x="3349295" y="582107"/>
                </a:lnTo>
                <a:lnTo>
                  <a:pt x="3393950" y="563700"/>
                </a:lnTo>
                <a:lnTo>
                  <a:pt x="3437824" y="547288"/>
                </a:lnTo>
                <a:lnTo>
                  <a:pt x="3480920" y="532870"/>
                </a:lnTo>
                <a:lnTo>
                  <a:pt x="3523236" y="520448"/>
                </a:lnTo>
                <a:lnTo>
                  <a:pt x="3564772" y="510020"/>
                </a:lnTo>
                <a:lnTo>
                  <a:pt x="3605530" y="501587"/>
                </a:lnTo>
                <a:lnTo>
                  <a:pt x="3645507" y="495149"/>
                </a:lnTo>
                <a:lnTo>
                  <a:pt x="3684706" y="490706"/>
                </a:lnTo>
                <a:lnTo>
                  <a:pt x="3723125" y="488258"/>
                </a:lnTo>
                <a:lnTo>
                  <a:pt x="3760764" y="487804"/>
                </a:lnTo>
                <a:lnTo>
                  <a:pt x="3797624" y="489345"/>
                </a:lnTo>
                <a:lnTo>
                  <a:pt x="3869006" y="498413"/>
                </a:lnTo>
                <a:lnTo>
                  <a:pt x="3937270" y="515459"/>
                </a:lnTo>
                <a:lnTo>
                  <a:pt x="4002416" y="540485"/>
                </a:lnTo>
                <a:lnTo>
                  <a:pt x="4064444" y="573491"/>
                </a:lnTo>
                <a:lnTo>
                  <a:pt x="4123355" y="614476"/>
                </a:lnTo>
                <a:lnTo>
                  <a:pt x="4179149" y="663440"/>
                </a:lnTo>
                <a:lnTo>
                  <a:pt x="4205876" y="690914"/>
                </a:lnTo>
                <a:lnTo>
                  <a:pt x="4231824" y="720383"/>
                </a:lnTo>
                <a:lnTo>
                  <a:pt x="4256993" y="751848"/>
                </a:lnTo>
                <a:lnTo>
                  <a:pt x="4281382" y="785306"/>
                </a:lnTo>
                <a:lnTo>
                  <a:pt x="4304992" y="820760"/>
                </a:lnTo>
                <a:lnTo>
                  <a:pt x="4327822" y="858209"/>
                </a:lnTo>
                <a:lnTo>
                  <a:pt x="4349873" y="897652"/>
                </a:lnTo>
                <a:lnTo>
                  <a:pt x="4371144" y="939091"/>
                </a:lnTo>
                <a:lnTo>
                  <a:pt x="4391636" y="982524"/>
                </a:lnTo>
                <a:lnTo>
                  <a:pt x="4411349" y="1027952"/>
                </a:lnTo>
                <a:lnTo>
                  <a:pt x="4430282" y="1075375"/>
                </a:lnTo>
                <a:lnTo>
                  <a:pt x="4448436" y="1124793"/>
                </a:lnTo>
                <a:lnTo>
                  <a:pt x="4464977" y="1171963"/>
                </a:lnTo>
                <a:lnTo>
                  <a:pt x="4481388" y="1219216"/>
                </a:lnTo>
                <a:lnTo>
                  <a:pt x="4497669" y="1266554"/>
                </a:lnTo>
                <a:lnTo>
                  <a:pt x="4513820" y="1313977"/>
                </a:lnTo>
                <a:lnTo>
                  <a:pt x="4529842" y="1361483"/>
                </a:lnTo>
                <a:lnTo>
                  <a:pt x="4545733" y="1409073"/>
                </a:lnTo>
                <a:lnTo>
                  <a:pt x="4561494" y="1456748"/>
                </a:lnTo>
                <a:lnTo>
                  <a:pt x="4577125" y="1504506"/>
                </a:lnTo>
                <a:lnTo>
                  <a:pt x="4592627" y="1552349"/>
                </a:lnTo>
                <a:lnTo>
                  <a:pt x="4607998" y="1600276"/>
                </a:lnTo>
                <a:lnTo>
                  <a:pt x="4623120" y="164791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7934101"/>
            <a:ext cx="4653915" cy="2353310"/>
          </a:xfrm>
          <a:custGeom>
            <a:avLst/>
            <a:gdLst/>
            <a:ahLst/>
            <a:cxnLst/>
            <a:rect l="l" t="t" r="r" b="b"/>
            <a:pathLst>
              <a:path w="4653915" h="2353309">
                <a:moveTo>
                  <a:pt x="4653743" y="2352897"/>
                </a:moveTo>
                <a:lnTo>
                  <a:pt x="0" y="2352897"/>
                </a:lnTo>
                <a:lnTo>
                  <a:pt x="0" y="285427"/>
                </a:lnTo>
                <a:lnTo>
                  <a:pt x="23934" y="270669"/>
                </a:lnTo>
                <a:lnTo>
                  <a:pt x="68432" y="244090"/>
                </a:lnTo>
                <a:lnTo>
                  <a:pt x="113555" y="217984"/>
                </a:lnTo>
                <a:lnTo>
                  <a:pt x="159305" y="192353"/>
                </a:lnTo>
                <a:lnTo>
                  <a:pt x="205130" y="167797"/>
                </a:lnTo>
                <a:lnTo>
                  <a:pt x="250482" y="144917"/>
                </a:lnTo>
                <a:lnTo>
                  <a:pt x="295359" y="123714"/>
                </a:lnTo>
                <a:lnTo>
                  <a:pt x="339763" y="104186"/>
                </a:lnTo>
                <a:lnTo>
                  <a:pt x="383693" y="86334"/>
                </a:lnTo>
                <a:lnTo>
                  <a:pt x="427149" y="70158"/>
                </a:lnTo>
                <a:lnTo>
                  <a:pt x="470132" y="55659"/>
                </a:lnTo>
                <a:lnTo>
                  <a:pt x="512641" y="42835"/>
                </a:lnTo>
                <a:lnTo>
                  <a:pt x="554676" y="31688"/>
                </a:lnTo>
                <a:lnTo>
                  <a:pt x="596237" y="22216"/>
                </a:lnTo>
                <a:lnTo>
                  <a:pt x="637325" y="14421"/>
                </a:lnTo>
                <a:lnTo>
                  <a:pt x="677938" y="8301"/>
                </a:lnTo>
                <a:lnTo>
                  <a:pt x="718078" y="3858"/>
                </a:lnTo>
                <a:lnTo>
                  <a:pt x="757744" y="1091"/>
                </a:lnTo>
                <a:lnTo>
                  <a:pt x="796937" y="0"/>
                </a:lnTo>
                <a:lnTo>
                  <a:pt x="835655" y="584"/>
                </a:lnTo>
                <a:lnTo>
                  <a:pt x="873900" y="2845"/>
                </a:lnTo>
                <a:lnTo>
                  <a:pt x="948969" y="12395"/>
                </a:lnTo>
                <a:lnTo>
                  <a:pt x="1022142" y="28649"/>
                </a:lnTo>
                <a:lnTo>
                  <a:pt x="1093420" y="51607"/>
                </a:lnTo>
                <a:lnTo>
                  <a:pt x="1162803" y="81270"/>
                </a:lnTo>
                <a:lnTo>
                  <a:pt x="1196784" y="98615"/>
                </a:lnTo>
                <a:lnTo>
                  <a:pt x="1230291" y="117636"/>
                </a:lnTo>
                <a:lnTo>
                  <a:pt x="1263324" y="138333"/>
                </a:lnTo>
                <a:lnTo>
                  <a:pt x="1295884" y="160707"/>
                </a:lnTo>
                <a:lnTo>
                  <a:pt x="1327969" y="184756"/>
                </a:lnTo>
                <a:lnTo>
                  <a:pt x="1359581" y="210482"/>
                </a:lnTo>
                <a:lnTo>
                  <a:pt x="1390719" y="237883"/>
                </a:lnTo>
                <a:lnTo>
                  <a:pt x="1421384" y="266961"/>
                </a:lnTo>
                <a:lnTo>
                  <a:pt x="1451574" y="297715"/>
                </a:lnTo>
                <a:lnTo>
                  <a:pt x="1481291" y="330144"/>
                </a:lnTo>
                <a:lnTo>
                  <a:pt x="1510534" y="364250"/>
                </a:lnTo>
                <a:lnTo>
                  <a:pt x="1539303" y="400032"/>
                </a:lnTo>
                <a:lnTo>
                  <a:pt x="1567598" y="437490"/>
                </a:lnTo>
                <a:lnTo>
                  <a:pt x="1595420" y="476624"/>
                </a:lnTo>
                <a:lnTo>
                  <a:pt x="1622768" y="517434"/>
                </a:lnTo>
                <a:lnTo>
                  <a:pt x="1649642" y="559920"/>
                </a:lnTo>
                <a:lnTo>
                  <a:pt x="1676042" y="604082"/>
                </a:lnTo>
                <a:lnTo>
                  <a:pt x="1701968" y="649920"/>
                </a:lnTo>
                <a:lnTo>
                  <a:pt x="1727421" y="697434"/>
                </a:lnTo>
                <a:lnTo>
                  <a:pt x="1752399" y="746624"/>
                </a:lnTo>
                <a:lnTo>
                  <a:pt x="1776904" y="797491"/>
                </a:lnTo>
                <a:lnTo>
                  <a:pt x="1800935" y="850033"/>
                </a:lnTo>
                <a:lnTo>
                  <a:pt x="1824493" y="904251"/>
                </a:lnTo>
                <a:lnTo>
                  <a:pt x="1847576" y="960146"/>
                </a:lnTo>
                <a:lnTo>
                  <a:pt x="1891564" y="1072223"/>
                </a:lnTo>
                <a:lnTo>
                  <a:pt x="1913486" y="1125540"/>
                </a:lnTo>
                <a:lnTo>
                  <a:pt x="1935950" y="1177667"/>
                </a:lnTo>
                <a:lnTo>
                  <a:pt x="1958958" y="1228603"/>
                </a:lnTo>
                <a:lnTo>
                  <a:pt x="1982510" y="1278349"/>
                </a:lnTo>
                <a:lnTo>
                  <a:pt x="2006605" y="1326904"/>
                </a:lnTo>
                <a:lnTo>
                  <a:pt x="2031243" y="1374269"/>
                </a:lnTo>
                <a:lnTo>
                  <a:pt x="2056424" y="1420444"/>
                </a:lnTo>
                <a:lnTo>
                  <a:pt x="2082149" y="1465429"/>
                </a:lnTo>
                <a:lnTo>
                  <a:pt x="2108417" y="1509223"/>
                </a:lnTo>
                <a:lnTo>
                  <a:pt x="2135228" y="1551827"/>
                </a:lnTo>
                <a:lnTo>
                  <a:pt x="2162583" y="1593240"/>
                </a:lnTo>
                <a:lnTo>
                  <a:pt x="2190481" y="1633463"/>
                </a:lnTo>
                <a:lnTo>
                  <a:pt x="2218922" y="1672496"/>
                </a:lnTo>
                <a:lnTo>
                  <a:pt x="2247907" y="1710339"/>
                </a:lnTo>
                <a:lnTo>
                  <a:pt x="2277435" y="1746991"/>
                </a:lnTo>
                <a:lnTo>
                  <a:pt x="2307507" y="1782453"/>
                </a:lnTo>
                <a:lnTo>
                  <a:pt x="2338121" y="1816724"/>
                </a:lnTo>
                <a:lnTo>
                  <a:pt x="2369279" y="1849806"/>
                </a:lnTo>
                <a:lnTo>
                  <a:pt x="2400981" y="1881696"/>
                </a:lnTo>
                <a:lnTo>
                  <a:pt x="2433225" y="1912397"/>
                </a:lnTo>
                <a:lnTo>
                  <a:pt x="2466013" y="1941907"/>
                </a:lnTo>
                <a:lnTo>
                  <a:pt x="2499345" y="1970227"/>
                </a:lnTo>
                <a:lnTo>
                  <a:pt x="2533219" y="1997357"/>
                </a:lnTo>
                <a:lnTo>
                  <a:pt x="2567637" y="2023296"/>
                </a:lnTo>
                <a:lnTo>
                  <a:pt x="2602599" y="2048045"/>
                </a:lnTo>
                <a:lnTo>
                  <a:pt x="2638104" y="2071603"/>
                </a:lnTo>
                <a:lnTo>
                  <a:pt x="2674152" y="2093972"/>
                </a:lnTo>
                <a:lnTo>
                  <a:pt x="2710743" y="2115150"/>
                </a:lnTo>
                <a:lnTo>
                  <a:pt x="2747878" y="2135137"/>
                </a:lnTo>
                <a:lnTo>
                  <a:pt x="2785555" y="2153935"/>
                </a:lnTo>
                <a:lnTo>
                  <a:pt x="2823777" y="2171542"/>
                </a:lnTo>
                <a:lnTo>
                  <a:pt x="2862541" y="2187958"/>
                </a:lnTo>
                <a:lnTo>
                  <a:pt x="2901849" y="2203185"/>
                </a:lnTo>
                <a:lnTo>
                  <a:pt x="2941701" y="2217221"/>
                </a:lnTo>
                <a:lnTo>
                  <a:pt x="2982095" y="2230066"/>
                </a:lnTo>
                <a:lnTo>
                  <a:pt x="3023033" y="2241722"/>
                </a:lnTo>
                <a:lnTo>
                  <a:pt x="3064515" y="2252187"/>
                </a:lnTo>
                <a:lnTo>
                  <a:pt x="3106539" y="2261462"/>
                </a:lnTo>
                <a:lnTo>
                  <a:pt x="3149107" y="2269546"/>
                </a:lnTo>
                <a:lnTo>
                  <a:pt x="3192219" y="2276440"/>
                </a:lnTo>
                <a:lnTo>
                  <a:pt x="3235873" y="2282144"/>
                </a:lnTo>
                <a:lnTo>
                  <a:pt x="3280071" y="2286657"/>
                </a:lnTo>
                <a:lnTo>
                  <a:pt x="3324812" y="2289981"/>
                </a:lnTo>
                <a:lnTo>
                  <a:pt x="3370097" y="2292113"/>
                </a:lnTo>
                <a:lnTo>
                  <a:pt x="3415925" y="2293056"/>
                </a:lnTo>
                <a:lnTo>
                  <a:pt x="3462296" y="2292808"/>
                </a:lnTo>
                <a:lnTo>
                  <a:pt x="3509211" y="2291370"/>
                </a:lnTo>
                <a:lnTo>
                  <a:pt x="3556669" y="2288742"/>
                </a:lnTo>
                <a:lnTo>
                  <a:pt x="3604670" y="2284923"/>
                </a:lnTo>
                <a:lnTo>
                  <a:pt x="3653215" y="2279914"/>
                </a:lnTo>
                <a:lnTo>
                  <a:pt x="3702302" y="2273715"/>
                </a:lnTo>
                <a:lnTo>
                  <a:pt x="3812661" y="2257216"/>
                </a:lnTo>
                <a:lnTo>
                  <a:pt x="3871825" y="2249572"/>
                </a:lnTo>
                <a:lnTo>
                  <a:pt x="3929428" y="2243392"/>
                </a:lnTo>
                <a:lnTo>
                  <a:pt x="3985468" y="2238678"/>
                </a:lnTo>
                <a:lnTo>
                  <a:pt x="4039946" y="2235429"/>
                </a:lnTo>
                <a:lnTo>
                  <a:pt x="4092861" y="2233644"/>
                </a:lnTo>
                <a:lnTo>
                  <a:pt x="4144214" y="2233325"/>
                </a:lnTo>
                <a:lnTo>
                  <a:pt x="4194005" y="2234470"/>
                </a:lnTo>
                <a:lnTo>
                  <a:pt x="4242234" y="2237081"/>
                </a:lnTo>
                <a:lnTo>
                  <a:pt x="4288900" y="2241156"/>
                </a:lnTo>
                <a:lnTo>
                  <a:pt x="4334004" y="2246697"/>
                </a:lnTo>
                <a:lnTo>
                  <a:pt x="4377546" y="2253702"/>
                </a:lnTo>
                <a:lnTo>
                  <a:pt x="4419525" y="2262173"/>
                </a:lnTo>
                <a:lnTo>
                  <a:pt x="4459942" y="2272108"/>
                </a:lnTo>
                <a:lnTo>
                  <a:pt x="4498797" y="2283508"/>
                </a:lnTo>
                <a:lnTo>
                  <a:pt x="4536090" y="2296374"/>
                </a:lnTo>
                <a:lnTo>
                  <a:pt x="4571820" y="2310704"/>
                </a:lnTo>
                <a:lnTo>
                  <a:pt x="4638593" y="2343759"/>
                </a:lnTo>
                <a:lnTo>
                  <a:pt x="4653743" y="2352897"/>
                </a:lnTo>
                <a:close/>
              </a:path>
            </a:pathLst>
          </a:custGeom>
          <a:solidFill>
            <a:srgbClr val="A31111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4758957" y="7567103"/>
            <a:ext cx="3529329" cy="2720340"/>
          </a:xfrm>
          <a:custGeom>
            <a:avLst/>
            <a:gdLst/>
            <a:ahLst/>
            <a:cxnLst/>
            <a:rect l="l" t="t" r="r" b="b"/>
            <a:pathLst>
              <a:path w="3529330" h="2720340">
                <a:moveTo>
                  <a:pt x="3527437" y="67148"/>
                </a:moveTo>
                <a:lnTo>
                  <a:pt x="3529040" y="68037"/>
                </a:lnTo>
                <a:lnTo>
                  <a:pt x="3529040" y="2719897"/>
                </a:lnTo>
                <a:lnTo>
                  <a:pt x="0" y="2719897"/>
                </a:lnTo>
                <a:lnTo>
                  <a:pt x="27191" y="2669489"/>
                </a:lnTo>
                <a:lnTo>
                  <a:pt x="53297" y="2630580"/>
                </a:lnTo>
                <a:lnTo>
                  <a:pt x="82848" y="2593616"/>
                </a:lnTo>
                <a:lnTo>
                  <a:pt x="115074" y="2559269"/>
                </a:lnTo>
                <a:lnTo>
                  <a:pt x="149146" y="2527857"/>
                </a:lnTo>
                <a:lnTo>
                  <a:pt x="184949" y="2499185"/>
                </a:lnTo>
                <a:lnTo>
                  <a:pt x="222364" y="2473056"/>
                </a:lnTo>
                <a:lnTo>
                  <a:pt x="261276" y="2449274"/>
                </a:lnTo>
                <a:lnTo>
                  <a:pt x="301567" y="2427641"/>
                </a:lnTo>
                <a:lnTo>
                  <a:pt x="343119" y="2407960"/>
                </a:lnTo>
                <a:lnTo>
                  <a:pt x="385816" y="2390037"/>
                </a:lnTo>
                <a:lnTo>
                  <a:pt x="429540" y="2373673"/>
                </a:lnTo>
                <a:lnTo>
                  <a:pt x="474175" y="2358672"/>
                </a:lnTo>
                <a:lnTo>
                  <a:pt x="519604" y="2344837"/>
                </a:lnTo>
                <a:lnTo>
                  <a:pt x="565708" y="2331973"/>
                </a:lnTo>
                <a:lnTo>
                  <a:pt x="612372" y="2319881"/>
                </a:lnTo>
                <a:lnTo>
                  <a:pt x="659477" y="2308367"/>
                </a:lnTo>
                <a:lnTo>
                  <a:pt x="849977" y="2264142"/>
                </a:lnTo>
                <a:lnTo>
                  <a:pt x="897536" y="2252561"/>
                </a:lnTo>
                <a:lnTo>
                  <a:pt x="944834" y="2240376"/>
                </a:lnTo>
                <a:lnTo>
                  <a:pt x="991755" y="2227393"/>
                </a:lnTo>
                <a:lnTo>
                  <a:pt x="1038180" y="2213412"/>
                </a:lnTo>
                <a:lnTo>
                  <a:pt x="1083994" y="2198239"/>
                </a:lnTo>
                <a:lnTo>
                  <a:pt x="1129078" y="2181676"/>
                </a:lnTo>
                <a:lnTo>
                  <a:pt x="1173317" y="2163527"/>
                </a:lnTo>
                <a:lnTo>
                  <a:pt x="1216591" y="2143595"/>
                </a:lnTo>
                <a:lnTo>
                  <a:pt x="1259624" y="2121285"/>
                </a:lnTo>
                <a:lnTo>
                  <a:pt x="1301267" y="2097144"/>
                </a:lnTo>
                <a:lnTo>
                  <a:pt x="1341563" y="2071253"/>
                </a:lnTo>
                <a:lnTo>
                  <a:pt x="1380553" y="2043691"/>
                </a:lnTo>
                <a:lnTo>
                  <a:pt x="1418279" y="2014537"/>
                </a:lnTo>
                <a:lnTo>
                  <a:pt x="1454783" y="1983873"/>
                </a:lnTo>
                <a:lnTo>
                  <a:pt x="1490108" y="1951778"/>
                </a:lnTo>
                <a:lnTo>
                  <a:pt x="1524295" y="1918331"/>
                </a:lnTo>
                <a:lnTo>
                  <a:pt x="1557386" y="1883613"/>
                </a:lnTo>
                <a:lnTo>
                  <a:pt x="1589423" y="1847702"/>
                </a:lnTo>
                <a:lnTo>
                  <a:pt x="1620449" y="1810680"/>
                </a:lnTo>
                <a:lnTo>
                  <a:pt x="1650505" y="1772626"/>
                </a:lnTo>
                <a:lnTo>
                  <a:pt x="1679633" y="1733619"/>
                </a:lnTo>
                <a:lnTo>
                  <a:pt x="1707875" y="1693740"/>
                </a:lnTo>
                <a:lnTo>
                  <a:pt x="1735273" y="1653068"/>
                </a:lnTo>
                <a:lnTo>
                  <a:pt x="1761870" y="1611684"/>
                </a:lnTo>
                <a:lnTo>
                  <a:pt x="1787706" y="1569666"/>
                </a:lnTo>
                <a:lnTo>
                  <a:pt x="1812825" y="1527096"/>
                </a:lnTo>
                <a:lnTo>
                  <a:pt x="1837267" y="1484051"/>
                </a:lnTo>
                <a:lnTo>
                  <a:pt x="1861076" y="1440614"/>
                </a:lnTo>
                <a:lnTo>
                  <a:pt x="1884292" y="1396862"/>
                </a:lnTo>
                <a:lnTo>
                  <a:pt x="1906959" y="1352877"/>
                </a:lnTo>
                <a:lnTo>
                  <a:pt x="1929118" y="1308738"/>
                </a:lnTo>
                <a:lnTo>
                  <a:pt x="1950810" y="1264525"/>
                </a:lnTo>
                <a:lnTo>
                  <a:pt x="1972079" y="1220317"/>
                </a:lnTo>
                <a:lnTo>
                  <a:pt x="1992965" y="1176194"/>
                </a:lnTo>
                <a:lnTo>
                  <a:pt x="2036176" y="1084151"/>
                </a:lnTo>
                <a:lnTo>
                  <a:pt x="2057977" y="1037934"/>
                </a:lnTo>
                <a:lnTo>
                  <a:pt x="2079993" y="991687"/>
                </a:lnTo>
                <a:lnTo>
                  <a:pt x="2102286" y="945487"/>
                </a:lnTo>
                <a:lnTo>
                  <a:pt x="2124919" y="899410"/>
                </a:lnTo>
                <a:lnTo>
                  <a:pt x="2147956" y="853531"/>
                </a:lnTo>
                <a:lnTo>
                  <a:pt x="2171458" y="807926"/>
                </a:lnTo>
                <a:lnTo>
                  <a:pt x="2195489" y="762672"/>
                </a:lnTo>
                <a:lnTo>
                  <a:pt x="2220112" y="717845"/>
                </a:lnTo>
                <a:lnTo>
                  <a:pt x="2245390" y="673519"/>
                </a:lnTo>
                <a:lnTo>
                  <a:pt x="2271385" y="629772"/>
                </a:lnTo>
                <a:lnTo>
                  <a:pt x="2298160" y="586679"/>
                </a:lnTo>
                <a:lnTo>
                  <a:pt x="2325779" y="544315"/>
                </a:lnTo>
                <a:lnTo>
                  <a:pt x="2354304" y="502758"/>
                </a:lnTo>
                <a:lnTo>
                  <a:pt x="2383797" y="462083"/>
                </a:lnTo>
                <a:lnTo>
                  <a:pt x="2414323" y="422365"/>
                </a:lnTo>
                <a:lnTo>
                  <a:pt x="2445944" y="383681"/>
                </a:lnTo>
                <a:lnTo>
                  <a:pt x="2478722" y="346107"/>
                </a:lnTo>
                <a:lnTo>
                  <a:pt x="2512721" y="309718"/>
                </a:lnTo>
                <a:lnTo>
                  <a:pt x="2548003" y="274590"/>
                </a:lnTo>
                <a:lnTo>
                  <a:pt x="2584631" y="240800"/>
                </a:lnTo>
                <a:lnTo>
                  <a:pt x="2622669" y="208424"/>
                </a:lnTo>
                <a:lnTo>
                  <a:pt x="2662179" y="177536"/>
                </a:lnTo>
                <a:lnTo>
                  <a:pt x="2703224" y="148214"/>
                </a:lnTo>
                <a:lnTo>
                  <a:pt x="2741401" y="123812"/>
                </a:lnTo>
                <a:lnTo>
                  <a:pt x="2781119" y="101538"/>
                </a:lnTo>
                <a:lnTo>
                  <a:pt x="2822206" y="81410"/>
                </a:lnTo>
                <a:lnTo>
                  <a:pt x="2864495" y="63449"/>
                </a:lnTo>
                <a:lnTo>
                  <a:pt x="2907813" y="47673"/>
                </a:lnTo>
                <a:lnTo>
                  <a:pt x="2951993" y="34102"/>
                </a:lnTo>
                <a:lnTo>
                  <a:pt x="2996864" y="22755"/>
                </a:lnTo>
                <a:lnTo>
                  <a:pt x="3042256" y="13652"/>
                </a:lnTo>
                <a:lnTo>
                  <a:pt x="3088000" y="6812"/>
                </a:lnTo>
                <a:lnTo>
                  <a:pt x="3133926" y="2255"/>
                </a:lnTo>
                <a:lnTo>
                  <a:pt x="3179864" y="0"/>
                </a:lnTo>
                <a:lnTo>
                  <a:pt x="3225645" y="65"/>
                </a:lnTo>
                <a:lnTo>
                  <a:pt x="3271098" y="2472"/>
                </a:lnTo>
                <a:lnTo>
                  <a:pt x="3316054" y="7238"/>
                </a:lnTo>
                <a:lnTo>
                  <a:pt x="3360343" y="14384"/>
                </a:lnTo>
                <a:lnTo>
                  <a:pt x="3403796" y="23928"/>
                </a:lnTo>
                <a:lnTo>
                  <a:pt x="3446242" y="35891"/>
                </a:lnTo>
                <a:lnTo>
                  <a:pt x="3487512" y="50291"/>
                </a:lnTo>
                <a:lnTo>
                  <a:pt x="3527437" y="67148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4639090" y="8769432"/>
            <a:ext cx="3649345" cy="1517650"/>
          </a:xfrm>
          <a:custGeom>
            <a:avLst/>
            <a:gdLst/>
            <a:ahLst/>
            <a:cxnLst/>
            <a:rect l="l" t="t" r="r" b="b"/>
            <a:pathLst>
              <a:path w="3649344" h="1517650">
                <a:moveTo>
                  <a:pt x="1108608" y="406817"/>
                </a:moveTo>
                <a:lnTo>
                  <a:pt x="1138955" y="423655"/>
                </a:lnTo>
                <a:lnTo>
                  <a:pt x="1086615" y="449926"/>
                </a:lnTo>
                <a:lnTo>
                  <a:pt x="1034846" y="476514"/>
                </a:lnTo>
                <a:lnTo>
                  <a:pt x="985538" y="504467"/>
                </a:lnTo>
                <a:lnTo>
                  <a:pt x="960275" y="490450"/>
                </a:lnTo>
                <a:lnTo>
                  <a:pt x="912171" y="519072"/>
                </a:lnTo>
                <a:lnTo>
                  <a:pt x="864735" y="548063"/>
                </a:lnTo>
                <a:lnTo>
                  <a:pt x="818009" y="577449"/>
                </a:lnTo>
                <a:lnTo>
                  <a:pt x="772037" y="607254"/>
                </a:lnTo>
                <a:lnTo>
                  <a:pt x="726863" y="637501"/>
                </a:lnTo>
                <a:lnTo>
                  <a:pt x="682530" y="668214"/>
                </a:lnTo>
                <a:lnTo>
                  <a:pt x="662546" y="657126"/>
                </a:lnTo>
                <a:lnTo>
                  <a:pt x="620025" y="688845"/>
                </a:lnTo>
                <a:lnTo>
                  <a:pt x="578474" y="721102"/>
                </a:lnTo>
                <a:lnTo>
                  <a:pt x="537938" y="753922"/>
                </a:lnTo>
                <a:lnTo>
                  <a:pt x="498459" y="787330"/>
                </a:lnTo>
                <a:lnTo>
                  <a:pt x="460081" y="821348"/>
                </a:lnTo>
                <a:lnTo>
                  <a:pt x="422848" y="856001"/>
                </a:lnTo>
                <a:lnTo>
                  <a:pt x="386803" y="891313"/>
                </a:lnTo>
                <a:lnTo>
                  <a:pt x="351989" y="927308"/>
                </a:lnTo>
                <a:lnTo>
                  <a:pt x="318449" y="964010"/>
                </a:lnTo>
                <a:lnTo>
                  <a:pt x="286227" y="1001444"/>
                </a:lnTo>
                <a:lnTo>
                  <a:pt x="255367" y="1039632"/>
                </a:lnTo>
                <a:lnTo>
                  <a:pt x="225911" y="1078601"/>
                </a:lnTo>
                <a:lnTo>
                  <a:pt x="197903" y="1118372"/>
                </a:lnTo>
                <a:lnTo>
                  <a:pt x="171386" y="1158971"/>
                </a:lnTo>
                <a:lnTo>
                  <a:pt x="146405" y="1200422"/>
                </a:lnTo>
                <a:lnTo>
                  <a:pt x="123001" y="1242748"/>
                </a:lnTo>
                <a:lnTo>
                  <a:pt x="101219" y="1285974"/>
                </a:lnTo>
                <a:lnTo>
                  <a:pt x="81102" y="1330124"/>
                </a:lnTo>
                <a:lnTo>
                  <a:pt x="62693" y="1375222"/>
                </a:lnTo>
                <a:lnTo>
                  <a:pt x="46035" y="1421291"/>
                </a:lnTo>
                <a:lnTo>
                  <a:pt x="31173" y="1468357"/>
                </a:lnTo>
                <a:lnTo>
                  <a:pt x="18148" y="1516442"/>
                </a:lnTo>
                <a:lnTo>
                  <a:pt x="20177" y="1517567"/>
                </a:lnTo>
                <a:lnTo>
                  <a:pt x="0" y="1517567"/>
                </a:lnTo>
                <a:lnTo>
                  <a:pt x="13739" y="1458683"/>
                </a:lnTo>
                <a:lnTo>
                  <a:pt x="27467" y="1410989"/>
                </a:lnTo>
                <a:lnTo>
                  <a:pt x="43224" y="1364420"/>
                </a:lnTo>
                <a:lnTo>
                  <a:pt x="60992" y="1318966"/>
                </a:lnTo>
                <a:lnTo>
                  <a:pt x="80657" y="1274566"/>
                </a:lnTo>
                <a:lnTo>
                  <a:pt x="102164" y="1231187"/>
                </a:lnTo>
                <a:lnTo>
                  <a:pt x="125459" y="1188800"/>
                </a:lnTo>
                <a:lnTo>
                  <a:pt x="150487" y="1147375"/>
                </a:lnTo>
                <a:lnTo>
                  <a:pt x="177193" y="1106881"/>
                </a:lnTo>
                <a:lnTo>
                  <a:pt x="205522" y="1067288"/>
                </a:lnTo>
                <a:lnTo>
                  <a:pt x="235420" y="1028565"/>
                </a:lnTo>
                <a:lnTo>
                  <a:pt x="266831" y="990682"/>
                </a:lnTo>
                <a:lnTo>
                  <a:pt x="299702" y="953608"/>
                </a:lnTo>
                <a:lnTo>
                  <a:pt x="357443" y="875022"/>
                </a:lnTo>
                <a:lnTo>
                  <a:pt x="393068" y="839477"/>
                </a:lnTo>
                <a:lnTo>
                  <a:pt x="429988" y="804650"/>
                </a:lnTo>
                <a:lnTo>
                  <a:pt x="444682" y="812803"/>
                </a:lnTo>
                <a:lnTo>
                  <a:pt x="484028" y="779322"/>
                </a:lnTo>
                <a:lnTo>
                  <a:pt x="524504" y="746469"/>
                </a:lnTo>
                <a:lnTo>
                  <a:pt x="566056" y="714212"/>
                </a:lnTo>
                <a:lnTo>
                  <a:pt x="608301" y="682340"/>
                </a:lnTo>
                <a:lnTo>
                  <a:pt x="651557" y="651028"/>
                </a:lnTo>
                <a:lnTo>
                  <a:pt x="695788" y="620258"/>
                </a:lnTo>
                <a:lnTo>
                  <a:pt x="740960" y="590010"/>
                </a:lnTo>
                <a:lnTo>
                  <a:pt x="787039" y="560265"/>
                </a:lnTo>
                <a:lnTo>
                  <a:pt x="833990" y="531004"/>
                </a:lnTo>
                <a:lnTo>
                  <a:pt x="881778" y="502208"/>
                </a:lnTo>
                <a:lnTo>
                  <a:pt x="906904" y="516149"/>
                </a:lnTo>
                <a:lnTo>
                  <a:pt x="956264" y="488224"/>
                </a:lnTo>
                <a:lnTo>
                  <a:pt x="1006357" y="460707"/>
                </a:lnTo>
                <a:lnTo>
                  <a:pt x="1057150" y="433578"/>
                </a:lnTo>
                <a:lnTo>
                  <a:pt x="1108608" y="406817"/>
                </a:lnTo>
                <a:close/>
              </a:path>
              <a:path w="3649344" h="1517650">
                <a:moveTo>
                  <a:pt x="1296929" y="345372"/>
                </a:moveTo>
                <a:lnTo>
                  <a:pt x="1330129" y="363793"/>
                </a:lnTo>
                <a:lnTo>
                  <a:pt x="1275720" y="388916"/>
                </a:lnTo>
                <a:lnTo>
                  <a:pt x="1221796" y="414308"/>
                </a:lnTo>
                <a:lnTo>
                  <a:pt x="1168378" y="439981"/>
                </a:lnTo>
                <a:lnTo>
                  <a:pt x="1137230" y="422698"/>
                </a:lnTo>
                <a:lnTo>
                  <a:pt x="1189914" y="396618"/>
                </a:lnTo>
                <a:lnTo>
                  <a:pt x="1243158" y="370849"/>
                </a:lnTo>
                <a:lnTo>
                  <a:pt x="1296929" y="345372"/>
                </a:lnTo>
                <a:close/>
              </a:path>
              <a:path w="3649344" h="1517650">
                <a:moveTo>
                  <a:pt x="1438174" y="313118"/>
                </a:moveTo>
                <a:lnTo>
                  <a:pt x="1472593" y="332215"/>
                </a:lnTo>
                <a:lnTo>
                  <a:pt x="1416854" y="356601"/>
                </a:lnTo>
                <a:lnTo>
                  <a:pt x="1361538" y="381220"/>
                </a:lnTo>
                <a:lnTo>
                  <a:pt x="1327727" y="362460"/>
                </a:lnTo>
                <a:lnTo>
                  <a:pt x="1382448" y="337510"/>
                </a:lnTo>
                <a:lnTo>
                  <a:pt x="1438174" y="313118"/>
                </a:lnTo>
                <a:close/>
              </a:path>
              <a:path w="3649344" h="1517650">
                <a:moveTo>
                  <a:pt x="1584048" y="283432"/>
                </a:moveTo>
                <a:lnTo>
                  <a:pt x="1618657" y="302636"/>
                </a:lnTo>
                <a:lnTo>
                  <a:pt x="1561783" y="326390"/>
                </a:lnTo>
                <a:lnTo>
                  <a:pt x="1505265" y="350344"/>
                </a:lnTo>
                <a:lnTo>
                  <a:pt x="1470806" y="331224"/>
                </a:lnTo>
                <a:lnTo>
                  <a:pt x="1527259" y="307235"/>
                </a:lnTo>
                <a:lnTo>
                  <a:pt x="1584048" y="283432"/>
                </a:lnTo>
                <a:close/>
              </a:path>
              <a:path w="3649344" h="1517650">
                <a:moveTo>
                  <a:pt x="1732786" y="255336"/>
                </a:moveTo>
                <a:lnTo>
                  <a:pt x="1767747" y="274734"/>
                </a:lnTo>
                <a:lnTo>
                  <a:pt x="1709928" y="297965"/>
                </a:lnTo>
                <a:lnTo>
                  <a:pt x="1652402" y="321359"/>
                </a:lnTo>
                <a:lnTo>
                  <a:pt x="1617689" y="302099"/>
                </a:lnTo>
                <a:lnTo>
                  <a:pt x="1675097" y="278639"/>
                </a:lnTo>
                <a:lnTo>
                  <a:pt x="1732786" y="255336"/>
                </a:lnTo>
                <a:close/>
              </a:path>
              <a:path w="3649344" h="1517650">
                <a:moveTo>
                  <a:pt x="1883900" y="228558"/>
                </a:moveTo>
                <a:lnTo>
                  <a:pt x="1919286" y="248192"/>
                </a:lnTo>
                <a:lnTo>
                  <a:pt x="1802372" y="293946"/>
                </a:lnTo>
                <a:lnTo>
                  <a:pt x="1767274" y="274472"/>
                </a:lnTo>
                <a:lnTo>
                  <a:pt x="1883900" y="228558"/>
                </a:lnTo>
                <a:close/>
              </a:path>
              <a:path w="3649344" h="1517650">
                <a:moveTo>
                  <a:pt x="2043452" y="233739"/>
                </a:moveTo>
                <a:lnTo>
                  <a:pt x="1954599" y="267786"/>
                </a:lnTo>
                <a:lnTo>
                  <a:pt x="1919070" y="248073"/>
                </a:lnTo>
                <a:lnTo>
                  <a:pt x="1977808" y="225436"/>
                </a:lnTo>
                <a:lnTo>
                  <a:pt x="2013343" y="245153"/>
                </a:lnTo>
                <a:lnTo>
                  <a:pt x="2043452" y="233739"/>
                </a:lnTo>
                <a:close/>
              </a:path>
              <a:path w="3649344" h="1517650">
                <a:moveTo>
                  <a:pt x="2131834" y="200236"/>
                </a:moveTo>
                <a:lnTo>
                  <a:pt x="2167854" y="220222"/>
                </a:lnTo>
                <a:lnTo>
                  <a:pt x="2049140" y="265015"/>
                </a:lnTo>
                <a:lnTo>
                  <a:pt x="2013475" y="245226"/>
                </a:lnTo>
                <a:lnTo>
                  <a:pt x="2131834" y="200236"/>
                </a:lnTo>
                <a:close/>
              </a:path>
              <a:path w="3649344" h="1517650">
                <a:moveTo>
                  <a:pt x="2227346" y="197872"/>
                </a:moveTo>
                <a:lnTo>
                  <a:pt x="2263518" y="217942"/>
                </a:lnTo>
                <a:lnTo>
                  <a:pt x="2203888" y="240215"/>
                </a:lnTo>
                <a:lnTo>
                  <a:pt x="2167854" y="220222"/>
                </a:lnTo>
                <a:lnTo>
                  <a:pt x="2227346" y="197872"/>
                </a:lnTo>
                <a:close/>
              </a:path>
              <a:path w="3649344" h="1517650">
                <a:moveTo>
                  <a:pt x="2323139" y="195711"/>
                </a:moveTo>
                <a:lnTo>
                  <a:pt x="2359373" y="215815"/>
                </a:lnTo>
                <a:lnTo>
                  <a:pt x="2299691" y="238013"/>
                </a:lnTo>
                <a:lnTo>
                  <a:pt x="2263518" y="217942"/>
                </a:lnTo>
                <a:lnTo>
                  <a:pt x="2323139" y="195711"/>
                </a:lnTo>
                <a:close/>
              </a:path>
              <a:path w="3649344" h="1517650">
                <a:moveTo>
                  <a:pt x="2478866" y="171492"/>
                </a:moveTo>
                <a:lnTo>
                  <a:pt x="2514938" y="191507"/>
                </a:lnTo>
                <a:lnTo>
                  <a:pt x="2395593" y="235912"/>
                </a:lnTo>
                <a:lnTo>
                  <a:pt x="2359381" y="215820"/>
                </a:lnTo>
                <a:lnTo>
                  <a:pt x="2478866" y="171492"/>
                </a:lnTo>
                <a:close/>
              </a:path>
              <a:path w="3649344" h="1517650">
                <a:moveTo>
                  <a:pt x="2574854" y="169440"/>
                </a:moveTo>
                <a:lnTo>
                  <a:pt x="2610627" y="189288"/>
                </a:lnTo>
                <a:lnTo>
                  <a:pt x="2551084" y="211563"/>
                </a:lnTo>
                <a:lnTo>
                  <a:pt x="2515140" y="191619"/>
                </a:lnTo>
                <a:lnTo>
                  <a:pt x="2574854" y="169440"/>
                </a:lnTo>
                <a:close/>
              </a:path>
              <a:path w="3649344" h="1517650">
                <a:moveTo>
                  <a:pt x="2730196" y="145008"/>
                </a:moveTo>
                <a:lnTo>
                  <a:pt x="2765158" y="164406"/>
                </a:lnTo>
                <a:lnTo>
                  <a:pt x="2646612" y="209255"/>
                </a:lnTo>
                <a:lnTo>
                  <a:pt x="2611059" y="189528"/>
                </a:lnTo>
                <a:lnTo>
                  <a:pt x="2730196" y="145008"/>
                </a:lnTo>
                <a:close/>
              </a:path>
              <a:path w="3649344" h="1517650">
                <a:moveTo>
                  <a:pt x="2825475" y="142561"/>
                </a:moveTo>
                <a:lnTo>
                  <a:pt x="2859774" y="161592"/>
                </a:lnTo>
                <a:lnTo>
                  <a:pt x="2800809" y="184187"/>
                </a:lnTo>
                <a:lnTo>
                  <a:pt x="2766161" y="164963"/>
                </a:lnTo>
                <a:lnTo>
                  <a:pt x="2825475" y="142561"/>
                </a:lnTo>
                <a:close/>
              </a:path>
              <a:path w="3649344" h="1517650">
                <a:moveTo>
                  <a:pt x="2979074" y="117162"/>
                </a:moveTo>
                <a:lnTo>
                  <a:pt x="3012182" y="135532"/>
                </a:lnTo>
                <a:lnTo>
                  <a:pt x="2895111" y="181199"/>
                </a:lnTo>
                <a:lnTo>
                  <a:pt x="2861189" y="162377"/>
                </a:lnTo>
                <a:lnTo>
                  <a:pt x="2979074" y="117162"/>
                </a:lnTo>
                <a:close/>
              </a:path>
              <a:path w="3649344" h="1517650">
                <a:moveTo>
                  <a:pt x="3072738" y="113820"/>
                </a:moveTo>
                <a:lnTo>
                  <a:pt x="3104996" y="131718"/>
                </a:lnTo>
                <a:lnTo>
                  <a:pt x="3046961" y="154829"/>
                </a:lnTo>
                <a:lnTo>
                  <a:pt x="3014277" y="136694"/>
                </a:lnTo>
                <a:lnTo>
                  <a:pt x="3072738" y="113820"/>
                </a:lnTo>
                <a:close/>
              </a:path>
              <a:path w="3649344" h="1517650">
                <a:moveTo>
                  <a:pt x="3223179" y="86668"/>
                </a:moveTo>
                <a:lnTo>
                  <a:pt x="3254264" y="103916"/>
                </a:lnTo>
                <a:lnTo>
                  <a:pt x="3139345" y="150777"/>
                </a:lnTo>
                <a:lnTo>
                  <a:pt x="3107510" y="133113"/>
                </a:lnTo>
                <a:lnTo>
                  <a:pt x="3165504" y="109979"/>
                </a:lnTo>
                <a:lnTo>
                  <a:pt x="3223179" y="86668"/>
                </a:lnTo>
                <a:close/>
              </a:path>
              <a:path w="3649344" h="1517650">
                <a:moveTo>
                  <a:pt x="3370906" y="58011"/>
                </a:moveTo>
                <a:lnTo>
                  <a:pt x="3401227" y="74835"/>
                </a:lnTo>
                <a:lnTo>
                  <a:pt x="3344693" y="98779"/>
                </a:lnTo>
                <a:lnTo>
                  <a:pt x="3287879" y="122567"/>
                </a:lnTo>
                <a:lnTo>
                  <a:pt x="3257085" y="105481"/>
                </a:lnTo>
                <a:lnTo>
                  <a:pt x="3314150" y="81832"/>
                </a:lnTo>
                <a:lnTo>
                  <a:pt x="3370906" y="58011"/>
                </a:lnTo>
                <a:close/>
              </a:path>
              <a:path w="3649344" h="1517650">
                <a:moveTo>
                  <a:pt x="3515814" y="27790"/>
                </a:moveTo>
                <a:lnTo>
                  <a:pt x="3545571" y="44300"/>
                </a:lnTo>
                <a:lnTo>
                  <a:pt x="3489945" y="68748"/>
                </a:lnTo>
                <a:lnTo>
                  <a:pt x="3434004" y="93021"/>
                </a:lnTo>
                <a:lnTo>
                  <a:pt x="3403882" y="76308"/>
                </a:lnTo>
                <a:lnTo>
                  <a:pt x="3460008" y="52138"/>
                </a:lnTo>
                <a:lnTo>
                  <a:pt x="3515814" y="27790"/>
                </a:lnTo>
                <a:close/>
              </a:path>
              <a:path w="3649344" h="1517650">
                <a:moveTo>
                  <a:pt x="3648907" y="0"/>
                </a:moveTo>
                <a:lnTo>
                  <a:pt x="3648907" y="29701"/>
                </a:lnTo>
                <a:lnTo>
                  <a:pt x="3577406" y="61964"/>
                </a:lnTo>
                <a:lnTo>
                  <a:pt x="3547831" y="45555"/>
                </a:lnTo>
                <a:lnTo>
                  <a:pt x="3602988" y="20846"/>
                </a:lnTo>
                <a:lnTo>
                  <a:pt x="36489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3952" y="120540"/>
            <a:ext cx="3276599" cy="111442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96315" y="226676"/>
            <a:ext cx="1674752" cy="94195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71400" y="1626752"/>
            <a:ext cx="8343899" cy="20383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47463" y="938341"/>
            <a:ext cx="13393072" cy="147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00000" y="3450000"/>
            <a:ext cx="13100000" cy="75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400" b="1" dirty="0">
                <a:solidFill>
                  <a:srgbClr val="A31111"/>
                </a:solidFill>
                <a:latin typeface="Tahoma"/>
                <a:cs typeface="Tahoma"/>
              </a:rPr>
              <a:t>PROBLEM STATEMENT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9657" y="0"/>
            <a:ext cx="1304924" cy="12287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4825205" y="-9690"/>
            <a:ext cx="3472815" cy="1597660"/>
            <a:chOff x="14825205" y="-9690"/>
            <a:chExt cx="3472815" cy="1597660"/>
          </a:xfrm>
        </p:grpSpPr>
        <p:sp>
          <p:nvSpPr>
            <p:cNvPr id="6" name="object 6"/>
            <p:cNvSpPr/>
            <p:nvPr/>
          </p:nvSpPr>
          <p:spPr>
            <a:xfrm>
              <a:off x="15073757" y="0"/>
              <a:ext cx="3214370" cy="1587500"/>
            </a:xfrm>
            <a:custGeom>
              <a:avLst/>
              <a:gdLst/>
              <a:ahLst/>
              <a:cxnLst/>
              <a:rect l="l" t="t" r="r" b="b"/>
              <a:pathLst>
                <a:path w="3214369" h="1587500">
                  <a:moveTo>
                    <a:pt x="1380126" y="1587501"/>
                  </a:moveTo>
                  <a:lnTo>
                    <a:pt x="1323508" y="1587501"/>
                  </a:lnTo>
                  <a:lnTo>
                    <a:pt x="1271146" y="1585860"/>
                  </a:lnTo>
                  <a:lnTo>
                    <a:pt x="1220449" y="1582872"/>
                  </a:lnTo>
                  <a:lnTo>
                    <a:pt x="1171466" y="1578748"/>
                  </a:lnTo>
                  <a:lnTo>
                    <a:pt x="1124247" y="1573702"/>
                  </a:lnTo>
                  <a:lnTo>
                    <a:pt x="1078843" y="1567947"/>
                  </a:lnTo>
                  <a:lnTo>
                    <a:pt x="1035302" y="1561695"/>
                  </a:lnTo>
                  <a:lnTo>
                    <a:pt x="954010" y="1548551"/>
                  </a:lnTo>
                  <a:lnTo>
                    <a:pt x="722211" y="1507595"/>
                  </a:lnTo>
                  <a:lnTo>
                    <a:pt x="666267" y="1496605"/>
                  </a:lnTo>
                  <a:lnTo>
                    <a:pt x="614192" y="1485415"/>
                  </a:lnTo>
                  <a:lnTo>
                    <a:pt x="565675" y="1473757"/>
                  </a:lnTo>
                  <a:lnTo>
                    <a:pt x="520407" y="1461358"/>
                  </a:lnTo>
                  <a:lnTo>
                    <a:pt x="478077" y="1447949"/>
                  </a:lnTo>
                  <a:lnTo>
                    <a:pt x="438375" y="1433257"/>
                  </a:lnTo>
                  <a:lnTo>
                    <a:pt x="400990" y="1417012"/>
                  </a:lnTo>
                  <a:lnTo>
                    <a:pt x="365613" y="1398943"/>
                  </a:lnTo>
                  <a:lnTo>
                    <a:pt x="331933" y="1378779"/>
                  </a:lnTo>
                  <a:lnTo>
                    <a:pt x="299640" y="1356250"/>
                  </a:lnTo>
                  <a:lnTo>
                    <a:pt x="268424" y="1331084"/>
                  </a:lnTo>
                  <a:lnTo>
                    <a:pt x="230606" y="1295538"/>
                  </a:lnTo>
                  <a:lnTo>
                    <a:pt x="196296" y="1257463"/>
                  </a:lnTo>
                  <a:lnTo>
                    <a:pt x="165343" y="1217083"/>
                  </a:lnTo>
                  <a:lnTo>
                    <a:pt x="137597" y="1174619"/>
                  </a:lnTo>
                  <a:lnTo>
                    <a:pt x="112908" y="1130296"/>
                  </a:lnTo>
                  <a:lnTo>
                    <a:pt x="91125" y="1084336"/>
                  </a:lnTo>
                  <a:lnTo>
                    <a:pt x="72098" y="1036962"/>
                  </a:lnTo>
                  <a:lnTo>
                    <a:pt x="55675" y="988397"/>
                  </a:lnTo>
                  <a:lnTo>
                    <a:pt x="41706" y="938864"/>
                  </a:lnTo>
                  <a:lnTo>
                    <a:pt x="30042" y="888586"/>
                  </a:lnTo>
                  <a:lnTo>
                    <a:pt x="20530" y="837786"/>
                  </a:lnTo>
                  <a:lnTo>
                    <a:pt x="13021" y="786688"/>
                  </a:lnTo>
                  <a:lnTo>
                    <a:pt x="7364" y="735514"/>
                  </a:lnTo>
                  <a:lnTo>
                    <a:pt x="3408" y="684487"/>
                  </a:lnTo>
                  <a:lnTo>
                    <a:pt x="1004" y="633830"/>
                  </a:lnTo>
                  <a:lnTo>
                    <a:pt x="0" y="583766"/>
                  </a:lnTo>
                  <a:lnTo>
                    <a:pt x="245" y="534519"/>
                  </a:lnTo>
                  <a:lnTo>
                    <a:pt x="1590" y="486311"/>
                  </a:lnTo>
                  <a:lnTo>
                    <a:pt x="3884" y="439365"/>
                  </a:lnTo>
                  <a:lnTo>
                    <a:pt x="6975" y="393904"/>
                  </a:lnTo>
                  <a:lnTo>
                    <a:pt x="10715" y="350151"/>
                  </a:lnTo>
                  <a:lnTo>
                    <a:pt x="14951" y="308330"/>
                  </a:lnTo>
                  <a:lnTo>
                    <a:pt x="19534" y="268663"/>
                  </a:lnTo>
                  <a:lnTo>
                    <a:pt x="29137" y="196684"/>
                  </a:lnTo>
                  <a:lnTo>
                    <a:pt x="38319" y="135998"/>
                  </a:lnTo>
                  <a:lnTo>
                    <a:pt x="53667" y="45663"/>
                  </a:lnTo>
                  <a:lnTo>
                    <a:pt x="63038" y="0"/>
                  </a:lnTo>
                  <a:lnTo>
                    <a:pt x="3214242" y="0"/>
                  </a:lnTo>
                  <a:lnTo>
                    <a:pt x="3214242" y="1260107"/>
                  </a:lnTo>
                  <a:lnTo>
                    <a:pt x="2504311" y="1260107"/>
                  </a:lnTo>
                  <a:lnTo>
                    <a:pt x="2460056" y="1260727"/>
                  </a:lnTo>
                  <a:lnTo>
                    <a:pt x="2413079" y="1264197"/>
                  </a:lnTo>
                  <a:lnTo>
                    <a:pt x="2363043" y="1270780"/>
                  </a:lnTo>
                  <a:lnTo>
                    <a:pt x="2310462" y="1280763"/>
                  </a:lnTo>
                  <a:lnTo>
                    <a:pt x="2264031" y="1292720"/>
                  </a:lnTo>
                  <a:lnTo>
                    <a:pt x="2222815" y="1306429"/>
                  </a:lnTo>
                  <a:lnTo>
                    <a:pt x="2185879" y="1321667"/>
                  </a:lnTo>
                  <a:lnTo>
                    <a:pt x="2121109" y="1355833"/>
                  </a:lnTo>
                  <a:lnTo>
                    <a:pt x="2032683" y="1412957"/>
                  </a:lnTo>
                  <a:lnTo>
                    <a:pt x="2001796" y="1432670"/>
                  </a:lnTo>
                  <a:lnTo>
                    <a:pt x="1968646" y="1452348"/>
                  </a:lnTo>
                  <a:lnTo>
                    <a:pt x="1932296" y="1471765"/>
                  </a:lnTo>
                  <a:lnTo>
                    <a:pt x="1891814" y="1490699"/>
                  </a:lnTo>
                  <a:lnTo>
                    <a:pt x="1846263" y="1508927"/>
                  </a:lnTo>
                  <a:lnTo>
                    <a:pt x="1794709" y="1526223"/>
                  </a:lnTo>
                  <a:lnTo>
                    <a:pt x="1736217" y="1542366"/>
                  </a:lnTo>
                  <a:lnTo>
                    <a:pt x="1669852" y="1557132"/>
                  </a:lnTo>
                  <a:lnTo>
                    <a:pt x="1609096" y="1567947"/>
                  </a:lnTo>
                  <a:lnTo>
                    <a:pt x="1609254" y="1567947"/>
                  </a:lnTo>
                  <a:lnTo>
                    <a:pt x="1548607" y="1576333"/>
                  </a:lnTo>
                  <a:lnTo>
                    <a:pt x="1490084" y="1582210"/>
                  </a:lnTo>
                  <a:lnTo>
                    <a:pt x="1433473" y="1585860"/>
                  </a:lnTo>
                  <a:lnTo>
                    <a:pt x="1433972" y="1585860"/>
                  </a:lnTo>
                  <a:lnTo>
                    <a:pt x="1380126" y="1587501"/>
                  </a:lnTo>
                  <a:close/>
                </a:path>
                <a:path w="3214369" h="1587500">
                  <a:moveTo>
                    <a:pt x="3214242" y="1433813"/>
                  </a:moveTo>
                  <a:lnTo>
                    <a:pt x="3167323" y="1429024"/>
                  </a:lnTo>
                  <a:lnTo>
                    <a:pt x="3117691" y="1421700"/>
                  </a:lnTo>
                  <a:lnTo>
                    <a:pt x="3071075" y="1412727"/>
                  </a:lnTo>
                  <a:lnTo>
                    <a:pt x="3027138" y="1402369"/>
                  </a:lnTo>
                  <a:lnTo>
                    <a:pt x="2985543" y="1390890"/>
                  </a:lnTo>
                  <a:lnTo>
                    <a:pt x="2945952" y="1378555"/>
                  </a:lnTo>
                  <a:lnTo>
                    <a:pt x="2908028" y="1365629"/>
                  </a:lnTo>
                  <a:lnTo>
                    <a:pt x="2871433" y="1352377"/>
                  </a:lnTo>
                  <a:lnTo>
                    <a:pt x="2800878" y="1325950"/>
                  </a:lnTo>
                  <a:lnTo>
                    <a:pt x="2766245" y="1313305"/>
                  </a:lnTo>
                  <a:lnTo>
                    <a:pt x="2696576" y="1290476"/>
                  </a:lnTo>
                  <a:lnTo>
                    <a:pt x="2624121" y="1272692"/>
                  </a:lnTo>
                  <a:lnTo>
                    <a:pt x="2586006" y="1266354"/>
                  </a:lnTo>
                  <a:lnTo>
                    <a:pt x="2546182" y="1262070"/>
                  </a:lnTo>
                  <a:lnTo>
                    <a:pt x="2504311" y="1260107"/>
                  </a:lnTo>
                  <a:lnTo>
                    <a:pt x="3214242" y="1260107"/>
                  </a:lnTo>
                  <a:lnTo>
                    <a:pt x="3214242" y="1433813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834895" y="0"/>
              <a:ext cx="3453129" cy="1346835"/>
            </a:xfrm>
            <a:custGeom>
              <a:avLst/>
              <a:gdLst/>
              <a:ahLst/>
              <a:cxnLst/>
              <a:rect l="l" t="t" r="r" b="b"/>
              <a:pathLst>
                <a:path w="3453130" h="1346835">
                  <a:moveTo>
                    <a:pt x="23112" y="0"/>
                  </a:moveTo>
                  <a:lnTo>
                    <a:pt x="14951" y="67588"/>
                  </a:lnTo>
                  <a:lnTo>
                    <a:pt x="10715" y="109410"/>
                  </a:lnTo>
                  <a:lnTo>
                    <a:pt x="6975" y="153162"/>
                  </a:lnTo>
                  <a:lnTo>
                    <a:pt x="3884" y="198623"/>
                  </a:lnTo>
                  <a:lnTo>
                    <a:pt x="1590" y="245569"/>
                  </a:lnTo>
                  <a:lnTo>
                    <a:pt x="245" y="293777"/>
                  </a:lnTo>
                  <a:lnTo>
                    <a:pt x="0" y="343025"/>
                  </a:lnTo>
                  <a:lnTo>
                    <a:pt x="1004" y="393088"/>
                  </a:lnTo>
                  <a:lnTo>
                    <a:pt x="3408" y="443745"/>
                  </a:lnTo>
                  <a:lnTo>
                    <a:pt x="7364" y="494772"/>
                  </a:lnTo>
                  <a:lnTo>
                    <a:pt x="13021" y="545946"/>
                  </a:lnTo>
                  <a:lnTo>
                    <a:pt x="20530" y="597045"/>
                  </a:lnTo>
                  <a:lnTo>
                    <a:pt x="30042" y="647844"/>
                  </a:lnTo>
                  <a:lnTo>
                    <a:pt x="41706" y="698122"/>
                  </a:lnTo>
                  <a:lnTo>
                    <a:pt x="55675" y="747655"/>
                  </a:lnTo>
                  <a:lnTo>
                    <a:pt x="72098" y="796220"/>
                  </a:lnTo>
                  <a:lnTo>
                    <a:pt x="91125" y="843594"/>
                  </a:lnTo>
                  <a:lnTo>
                    <a:pt x="112908" y="889554"/>
                  </a:lnTo>
                  <a:lnTo>
                    <a:pt x="137597" y="933878"/>
                  </a:lnTo>
                  <a:lnTo>
                    <a:pt x="165343" y="976341"/>
                  </a:lnTo>
                  <a:lnTo>
                    <a:pt x="196296" y="1016722"/>
                  </a:lnTo>
                  <a:lnTo>
                    <a:pt x="230606" y="1054796"/>
                  </a:lnTo>
                  <a:lnTo>
                    <a:pt x="268424" y="1090342"/>
                  </a:lnTo>
                  <a:lnTo>
                    <a:pt x="299640" y="1115508"/>
                  </a:lnTo>
                  <a:lnTo>
                    <a:pt x="331933" y="1138037"/>
                  </a:lnTo>
                  <a:lnTo>
                    <a:pt x="365613" y="1158201"/>
                  </a:lnTo>
                  <a:lnTo>
                    <a:pt x="400990" y="1176270"/>
                  </a:lnTo>
                  <a:lnTo>
                    <a:pt x="438375" y="1192515"/>
                  </a:lnTo>
                  <a:lnTo>
                    <a:pt x="478077" y="1207207"/>
                  </a:lnTo>
                  <a:lnTo>
                    <a:pt x="520407" y="1220617"/>
                  </a:lnTo>
                  <a:lnTo>
                    <a:pt x="565675" y="1233015"/>
                  </a:lnTo>
                  <a:lnTo>
                    <a:pt x="614192" y="1244674"/>
                  </a:lnTo>
                  <a:lnTo>
                    <a:pt x="666267" y="1255863"/>
                  </a:lnTo>
                  <a:lnTo>
                    <a:pt x="722211" y="1266854"/>
                  </a:lnTo>
                  <a:lnTo>
                    <a:pt x="782334" y="1277917"/>
                  </a:lnTo>
                  <a:lnTo>
                    <a:pt x="846946" y="1289323"/>
                  </a:lnTo>
                  <a:lnTo>
                    <a:pt x="916359" y="1301344"/>
                  </a:lnTo>
                  <a:lnTo>
                    <a:pt x="954010" y="1307810"/>
                  </a:lnTo>
                  <a:lnTo>
                    <a:pt x="993674" y="1314417"/>
                  </a:lnTo>
                  <a:lnTo>
                    <a:pt x="1035302" y="1320953"/>
                  </a:lnTo>
                  <a:lnTo>
                    <a:pt x="1078843" y="1327205"/>
                  </a:lnTo>
                  <a:lnTo>
                    <a:pt x="1124247" y="1332960"/>
                  </a:lnTo>
                  <a:lnTo>
                    <a:pt x="1171466" y="1338006"/>
                  </a:lnTo>
                  <a:lnTo>
                    <a:pt x="1220449" y="1342130"/>
                  </a:lnTo>
                  <a:lnTo>
                    <a:pt x="1271146" y="1345119"/>
                  </a:lnTo>
                  <a:lnTo>
                    <a:pt x="1323508" y="1346759"/>
                  </a:lnTo>
                  <a:lnTo>
                    <a:pt x="1377484" y="1346840"/>
                  </a:lnTo>
                  <a:lnTo>
                    <a:pt x="1433027" y="1345147"/>
                  </a:lnTo>
                  <a:lnTo>
                    <a:pt x="1490084" y="1341469"/>
                  </a:lnTo>
                  <a:lnTo>
                    <a:pt x="1548607" y="1335591"/>
                  </a:lnTo>
                  <a:lnTo>
                    <a:pt x="1608547" y="1327303"/>
                  </a:lnTo>
                  <a:lnTo>
                    <a:pt x="1669853" y="1316390"/>
                  </a:lnTo>
                  <a:lnTo>
                    <a:pt x="1736217" y="1301625"/>
                  </a:lnTo>
                  <a:lnTo>
                    <a:pt x="1794709" y="1285482"/>
                  </a:lnTo>
                  <a:lnTo>
                    <a:pt x="1846263" y="1268185"/>
                  </a:lnTo>
                  <a:lnTo>
                    <a:pt x="1891814" y="1249958"/>
                  </a:lnTo>
                  <a:lnTo>
                    <a:pt x="1932297" y="1231023"/>
                  </a:lnTo>
                  <a:lnTo>
                    <a:pt x="1968646" y="1211606"/>
                  </a:lnTo>
                  <a:lnTo>
                    <a:pt x="2001796" y="1191929"/>
                  </a:lnTo>
                  <a:lnTo>
                    <a:pt x="2062240" y="1152689"/>
                  </a:lnTo>
                  <a:lnTo>
                    <a:pt x="2091404" y="1133573"/>
                  </a:lnTo>
                  <a:lnTo>
                    <a:pt x="2152289" y="1097468"/>
                  </a:lnTo>
                  <a:lnTo>
                    <a:pt x="2222815" y="1065688"/>
                  </a:lnTo>
                  <a:lnTo>
                    <a:pt x="2264031" y="1051978"/>
                  </a:lnTo>
                  <a:lnTo>
                    <a:pt x="2310463" y="1040021"/>
                  </a:lnTo>
                  <a:lnTo>
                    <a:pt x="2363043" y="1030039"/>
                  </a:lnTo>
                  <a:lnTo>
                    <a:pt x="2413079" y="1023455"/>
                  </a:lnTo>
                  <a:lnTo>
                    <a:pt x="2460056" y="1019986"/>
                  </a:lnTo>
                  <a:lnTo>
                    <a:pt x="2504311" y="1019365"/>
                  </a:lnTo>
                  <a:lnTo>
                    <a:pt x="2546182" y="1021329"/>
                  </a:lnTo>
                  <a:lnTo>
                    <a:pt x="2586006" y="1025612"/>
                  </a:lnTo>
                  <a:lnTo>
                    <a:pt x="2624121" y="1031951"/>
                  </a:lnTo>
                  <a:lnTo>
                    <a:pt x="2696576" y="1049735"/>
                  </a:lnTo>
                  <a:lnTo>
                    <a:pt x="2766245" y="1072564"/>
                  </a:lnTo>
                  <a:lnTo>
                    <a:pt x="2835829" y="1098320"/>
                  </a:lnTo>
                  <a:lnTo>
                    <a:pt x="2871433" y="1111635"/>
                  </a:lnTo>
                  <a:lnTo>
                    <a:pt x="2908028" y="1124888"/>
                  </a:lnTo>
                  <a:lnTo>
                    <a:pt x="2945953" y="1137814"/>
                  </a:lnTo>
                  <a:lnTo>
                    <a:pt x="2985543" y="1150148"/>
                  </a:lnTo>
                  <a:lnTo>
                    <a:pt x="3027138" y="1161627"/>
                  </a:lnTo>
                  <a:lnTo>
                    <a:pt x="3071075" y="1171986"/>
                  </a:lnTo>
                  <a:lnTo>
                    <a:pt x="3117691" y="1180959"/>
                  </a:lnTo>
                  <a:lnTo>
                    <a:pt x="3167323" y="1188282"/>
                  </a:lnTo>
                  <a:lnTo>
                    <a:pt x="3220310" y="1193691"/>
                  </a:lnTo>
                  <a:lnTo>
                    <a:pt x="3276989" y="1196920"/>
                  </a:lnTo>
                  <a:lnTo>
                    <a:pt x="3337696" y="1197706"/>
                  </a:lnTo>
                  <a:lnTo>
                    <a:pt x="3402771" y="1195784"/>
                  </a:lnTo>
                  <a:lnTo>
                    <a:pt x="3432308" y="1194208"/>
                  </a:lnTo>
                  <a:lnTo>
                    <a:pt x="3453103" y="1192858"/>
                  </a:lnTo>
                </a:path>
              </a:pathLst>
            </a:custGeom>
            <a:ln w="1938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3707293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4" h="325755">
                <a:moveTo>
                  <a:pt x="162854" y="325761"/>
                </a:moveTo>
                <a:lnTo>
                  <a:pt x="205128" y="319059"/>
                </a:lnTo>
                <a:lnTo>
                  <a:pt x="244126" y="302485"/>
                </a:lnTo>
                <a:lnTo>
                  <a:pt x="277767" y="277308"/>
                </a:lnTo>
                <a:lnTo>
                  <a:pt x="303969" y="244801"/>
                </a:lnTo>
                <a:lnTo>
                  <a:pt x="320650" y="206235"/>
                </a:lnTo>
                <a:lnTo>
                  <a:pt x="325728" y="162880"/>
                </a:lnTo>
                <a:lnTo>
                  <a:pt x="319027" y="120615"/>
                </a:lnTo>
                <a:lnTo>
                  <a:pt x="302555" y="81861"/>
                </a:lnTo>
                <a:lnTo>
                  <a:pt x="302453" y="81622"/>
                </a:lnTo>
                <a:lnTo>
                  <a:pt x="277379" y="48119"/>
                </a:lnTo>
                <a:lnTo>
                  <a:pt x="244771" y="21778"/>
                </a:lnTo>
                <a:lnTo>
                  <a:pt x="206206" y="5090"/>
                </a:lnTo>
                <a:lnTo>
                  <a:pt x="162854" y="0"/>
                </a:lnTo>
                <a:lnTo>
                  <a:pt x="119501" y="6750"/>
                </a:lnTo>
                <a:lnTo>
                  <a:pt x="80955" y="23335"/>
                </a:lnTo>
                <a:lnTo>
                  <a:pt x="48963" y="48119"/>
                </a:lnTo>
                <a:lnTo>
                  <a:pt x="162854" y="48119"/>
                </a:lnTo>
                <a:lnTo>
                  <a:pt x="206832" y="57849"/>
                </a:lnTo>
                <a:lnTo>
                  <a:pt x="243887" y="82200"/>
                </a:lnTo>
                <a:lnTo>
                  <a:pt x="269114" y="118201"/>
                </a:lnTo>
                <a:lnTo>
                  <a:pt x="277609" y="162880"/>
                </a:lnTo>
                <a:lnTo>
                  <a:pt x="267883" y="206858"/>
                </a:lnTo>
                <a:lnTo>
                  <a:pt x="243538" y="243914"/>
                </a:lnTo>
                <a:lnTo>
                  <a:pt x="207541" y="269143"/>
                </a:lnTo>
                <a:lnTo>
                  <a:pt x="162854" y="277641"/>
                </a:lnTo>
                <a:lnTo>
                  <a:pt x="48334" y="277641"/>
                </a:lnTo>
                <a:lnTo>
                  <a:pt x="48448" y="277795"/>
                </a:lnTo>
                <a:lnTo>
                  <a:pt x="80951" y="303998"/>
                </a:lnTo>
                <a:lnTo>
                  <a:pt x="119510" y="320680"/>
                </a:lnTo>
                <a:lnTo>
                  <a:pt x="162854" y="325761"/>
                </a:lnTo>
                <a:close/>
              </a:path>
              <a:path w="325754" h="325755">
                <a:moveTo>
                  <a:pt x="48119" y="162880"/>
                </a:moveTo>
                <a:lnTo>
                  <a:pt x="57834" y="118913"/>
                </a:lnTo>
                <a:lnTo>
                  <a:pt x="82178" y="81861"/>
                </a:lnTo>
                <a:lnTo>
                  <a:pt x="118176" y="56628"/>
                </a:lnTo>
                <a:lnTo>
                  <a:pt x="162854" y="48119"/>
                </a:lnTo>
                <a:lnTo>
                  <a:pt x="48963" y="48119"/>
                </a:lnTo>
                <a:lnTo>
                  <a:pt x="48475" y="48497"/>
                </a:lnTo>
                <a:lnTo>
                  <a:pt x="23317" y="80980"/>
                </a:lnTo>
                <a:lnTo>
                  <a:pt x="6739" y="119527"/>
                </a:lnTo>
                <a:lnTo>
                  <a:pt x="3613" y="139638"/>
                </a:lnTo>
                <a:lnTo>
                  <a:pt x="23323" y="139638"/>
                </a:lnTo>
                <a:lnTo>
                  <a:pt x="39986" y="145438"/>
                </a:lnTo>
                <a:lnTo>
                  <a:pt x="48119" y="162880"/>
                </a:lnTo>
                <a:close/>
              </a:path>
              <a:path w="325754" h="325755">
                <a:moveTo>
                  <a:pt x="23323" y="186141"/>
                </a:moveTo>
                <a:lnTo>
                  <a:pt x="40048" y="180315"/>
                </a:lnTo>
                <a:lnTo>
                  <a:pt x="48119" y="162880"/>
                </a:lnTo>
                <a:lnTo>
                  <a:pt x="39986" y="145438"/>
                </a:lnTo>
                <a:lnTo>
                  <a:pt x="23323" y="139638"/>
                </a:lnTo>
                <a:lnTo>
                  <a:pt x="6966" y="145438"/>
                </a:lnTo>
                <a:lnTo>
                  <a:pt x="0" y="162880"/>
                </a:lnTo>
                <a:lnTo>
                  <a:pt x="6957" y="180315"/>
                </a:lnTo>
                <a:lnTo>
                  <a:pt x="23323" y="186141"/>
                </a:lnTo>
                <a:close/>
              </a:path>
              <a:path w="325754" h="325755">
                <a:moveTo>
                  <a:pt x="0" y="162880"/>
                </a:moveTo>
                <a:lnTo>
                  <a:pt x="6966" y="145438"/>
                </a:lnTo>
                <a:lnTo>
                  <a:pt x="23323" y="139638"/>
                </a:lnTo>
                <a:lnTo>
                  <a:pt x="3613" y="139638"/>
                </a:lnTo>
                <a:lnTo>
                  <a:pt x="0" y="162880"/>
                </a:lnTo>
                <a:close/>
              </a:path>
              <a:path w="325754" h="325755">
                <a:moveTo>
                  <a:pt x="48334" y="277641"/>
                </a:moveTo>
                <a:lnTo>
                  <a:pt x="162854" y="277641"/>
                </a:lnTo>
                <a:lnTo>
                  <a:pt x="118178" y="267885"/>
                </a:lnTo>
                <a:lnTo>
                  <a:pt x="82204" y="243548"/>
                </a:lnTo>
                <a:lnTo>
                  <a:pt x="57871" y="207567"/>
                </a:lnTo>
                <a:lnTo>
                  <a:pt x="48119" y="162880"/>
                </a:lnTo>
                <a:lnTo>
                  <a:pt x="40048" y="180315"/>
                </a:lnTo>
                <a:lnTo>
                  <a:pt x="23323" y="186141"/>
                </a:lnTo>
                <a:lnTo>
                  <a:pt x="3687" y="186141"/>
                </a:lnTo>
                <a:lnTo>
                  <a:pt x="6701" y="205154"/>
                </a:lnTo>
                <a:lnTo>
                  <a:pt x="23173" y="243914"/>
                </a:lnTo>
                <a:lnTo>
                  <a:pt x="23274" y="244153"/>
                </a:lnTo>
                <a:lnTo>
                  <a:pt x="48334" y="277641"/>
                </a:lnTo>
                <a:close/>
              </a:path>
              <a:path w="325754" h="325755">
                <a:moveTo>
                  <a:pt x="3687" y="186141"/>
                </a:moveTo>
                <a:lnTo>
                  <a:pt x="23323" y="186141"/>
                </a:lnTo>
                <a:lnTo>
                  <a:pt x="6957" y="180315"/>
                </a:lnTo>
                <a:lnTo>
                  <a:pt x="0" y="162880"/>
                </a:lnTo>
                <a:lnTo>
                  <a:pt x="3687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39708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4" h="325755">
                <a:moveTo>
                  <a:pt x="162854" y="325761"/>
                </a:moveTo>
                <a:lnTo>
                  <a:pt x="205126" y="319059"/>
                </a:lnTo>
                <a:lnTo>
                  <a:pt x="244121" y="302485"/>
                </a:lnTo>
                <a:lnTo>
                  <a:pt x="277758" y="277308"/>
                </a:lnTo>
                <a:lnTo>
                  <a:pt x="303959" y="244801"/>
                </a:lnTo>
                <a:lnTo>
                  <a:pt x="320642" y="206235"/>
                </a:lnTo>
                <a:lnTo>
                  <a:pt x="325728" y="162880"/>
                </a:lnTo>
                <a:lnTo>
                  <a:pt x="319026" y="120615"/>
                </a:lnTo>
                <a:lnTo>
                  <a:pt x="302550" y="81861"/>
                </a:lnTo>
                <a:lnTo>
                  <a:pt x="302449" y="81622"/>
                </a:lnTo>
                <a:lnTo>
                  <a:pt x="277372" y="48119"/>
                </a:lnTo>
                <a:lnTo>
                  <a:pt x="277270" y="47982"/>
                </a:lnTo>
                <a:lnTo>
                  <a:pt x="244763" y="21778"/>
                </a:lnTo>
                <a:lnTo>
                  <a:pt x="206200" y="5090"/>
                </a:lnTo>
                <a:lnTo>
                  <a:pt x="162854" y="0"/>
                </a:lnTo>
                <a:lnTo>
                  <a:pt x="119502" y="6750"/>
                </a:lnTo>
                <a:lnTo>
                  <a:pt x="80960" y="23335"/>
                </a:lnTo>
                <a:lnTo>
                  <a:pt x="48971" y="48119"/>
                </a:lnTo>
                <a:lnTo>
                  <a:pt x="162854" y="48119"/>
                </a:lnTo>
                <a:lnTo>
                  <a:pt x="206829" y="57849"/>
                </a:lnTo>
                <a:lnTo>
                  <a:pt x="243878" y="82200"/>
                </a:lnTo>
                <a:lnTo>
                  <a:pt x="269104" y="118201"/>
                </a:lnTo>
                <a:lnTo>
                  <a:pt x="277609" y="162880"/>
                </a:lnTo>
                <a:lnTo>
                  <a:pt x="267883" y="206858"/>
                </a:lnTo>
                <a:lnTo>
                  <a:pt x="243538" y="243914"/>
                </a:lnTo>
                <a:lnTo>
                  <a:pt x="207541" y="269143"/>
                </a:lnTo>
                <a:lnTo>
                  <a:pt x="162854" y="277641"/>
                </a:lnTo>
                <a:lnTo>
                  <a:pt x="48319" y="277641"/>
                </a:lnTo>
                <a:lnTo>
                  <a:pt x="48434" y="277795"/>
                </a:lnTo>
                <a:lnTo>
                  <a:pt x="80945" y="303998"/>
                </a:lnTo>
                <a:lnTo>
                  <a:pt x="119511" y="320680"/>
                </a:lnTo>
                <a:lnTo>
                  <a:pt x="162854" y="325761"/>
                </a:lnTo>
                <a:close/>
              </a:path>
              <a:path w="325754" h="325755">
                <a:moveTo>
                  <a:pt x="48119" y="162880"/>
                </a:moveTo>
                <a:lnTo>
                  <a:pt x="57824" y="118913"/>
                </a:lnTo>
                <a:lnTo>
                  <a:pt x="82166" y="81861"/>
                </a:lnTo>
                <a:lnTo>
                  <a:pt x="118167" y="56628"/>
                </a:lnTo>
                <a:lnTo>
                  <a:pt x="162854" y="48119"/>
                </a:lnTo>
                <a:lnTo>
                  <a:pt x="48971" y="48119"/>
                </a:lnTo>
                <a:lnTo>
                  <a:pt x="48482" y="48497"/>
                </a:lnTo>
                <a:lnTo>
                  <a:pt x="23326" y="80980"/>
                </a:lnTo>
                <a:lnTo>
                  <a:pt x="6746" y="119527"/>
                </a:lnTo>
                <a:lnTo>
                  <a:pt x="3616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4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4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16" y="139638"/>
                </a:lnTo>
                <a:lnTo>
                  <a:pt x="0" y="162880"/>
                </a:lnTo>
                <a:close/>
              </a:path>
              <a:path w="325754" h="325755">
                <a:moveTo>
                  <a:pt x="48319" y="277641"/>
                </a:moveTo>
                <a:lnTo>
                  <a:pt x="162854" y="277641"/>
                </a:lnTo>
                <a:lnTo>
                  <a:pt x="118158" y="267885"/>
                </a:lnTo>
                <a:lnTo>
                  <a:pt x="82190" y="243548"/>
                </a:lnTo>
                <a:lnTo>
                  <a:pt x="57869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77" y="186141"/>
                </a:lnTo>
                <a:lnTo>
                  <a:pt x="6684" y="205154"/>
                </a:lnTo>
                <a:lnTo>
                  <a:pt x="23153" y="243914"/>
                </a:lnTo>
                <a:lnTo>
                  <a:pt x="23254" y="244153"/>
                </a:lnTo>
                <a:lnTo>
                  <a:pt x="48319" y="277641"/>
                </a:lnTo>
                <a:close/>
              </a:path>
              <a:path w="325754" h="325755">
                <a:moveTo>
                  <a:pt x="3677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77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72117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5" h="325755">
                <a:moveTo>
                  <a:pt x="162835" y="325761"/>
                </a:moveTo>
                <a:lnTo>
                  <a:pt x="205128" y="319059"/>
                </a:lnTo>
                <a:lnTo>
                  <a:pt x="244134" y="302485"/>
                </a:lnTo>
                <a:lnTo>
                  <a:pt x="277776" y="277308"/>
                </a:lnTo>
                <a:lnTo>
                  <a:pt x="303976" y="244801"/>
                </a:lnTo>
                <a:lnTo>
                  <a:pt x="320654" y="206235"/>
                </a:lnTo>
                <a:lnTo>
                  <a:pt x="325735" y="162880"/>
                </a:lnTo>
                <a:lnTo>
                  <a:pt x="319028" y="120615"/>
                </a:lnTo>
                <a:lnTo>
                  <a:pt x="302552" y="81861"/>
                </a:lnTo>
                <a:lnTo>
                  <a:pt x="302450" y="81622"/>
                </a:lnTo>
                <a:lnTo>
                  <a:pt x="277373" y="48119"/>
                </a:lnTo>
                <a:lnTo>
                  <a:pt x="277271" y="47982"/>
                </a:lnTo>
                <a:lnTo>
                  <a:pt x="244761" y="21778"/>
                </a:lnTo>
                <a:lnTo>
                  <a:pt x="206193" y="5090"/>
                </a:lnTo>
                <a:lnTo>
                  <a:pt x="162835" y="0"/>
                </a:lnTo>
                <a:lnTo>
                  <a:pt x="119487" y="6750"/>
                </a:lnTo>
                <a:lnTo>
                  <a:pt x="80940" y="23335"/>
                </a:lnTo>
                <a:lnTo>
                  <a:pt x="48944" y="48119"/>
                </a:lnTo>
                <a:lnTo>
                  <a:pt x="162835" y="48119"/>
                </a:lnTo>
                <a:lnTo>
                  <a:pt x="206817" y="57849"/>
                </a:lnTo>
                <a:lnTo>
                  <a:pt x="243876" y="82200"/>
                </a:lnTo>
                <a:lnTo>
                  <a:pt x="269110" y="118201"/>
                </a:lnTo>
                <a:lnTo>
                  <a:pt x="277616" y="162880"/>
                </a:lnTo>
                <a:lnTo>
                  <a:pt x="267873" y="206858"/>
                </a:lnTo>
                <a:lnTo>
                  <a:pt x="243515" y="243914"/>
                </a:lnTo>
                <a:lnTo>
                  <a:pt x="207512" y="269143"/>
                </a:lnTo>
                <a:lnTo>
                  <a:pt x="162835" y="277641"/>
                </a:lnTo>
                <a:lnTo>
                  <a:pt x="48341" y="277641"/>
                </a:lnTo>
                <a:lnTo>
                  <a:pt x="48456" y="277795"/>
                </a:lnTo>
                <a:lnTo>
                  <a:pt x="80954" y="303998"/>
                </a:lnTo>
                <a:lnTo>
                  <a:pt x="119505" y="320680"/>
                </a:lnTo>
                <a:lnTo>
                  <a:pt x="162835" y="325761"/>
                </a:lnTo>
                <a:close/>
              </a:path>
              <a:path w="325755" h="325755">
                <a:moveTo>
                  <a:pt x="48119" y="162880"/>
                </a:moveTo>
                <a:lnTo>
                  <a:pt x="57824" y="118913"/>
                </a:lnTo>
                <a:lnTo>
                  <a:pt x="82163" y="81861"/>
                </a:lnTo>
                <a:lnTo>
                  <a:pt x="118159" y="56628"/>
                </a:lnTo>
                <a:lnTo>
                  <a:pt x="162835" y="48119"/>
                </a:lnTo>
                <a:lnTo>
                  <a:pt x="48944" y="48119"/>
                </a:lnTo>
                <a:lnTo>
                  <a:pt x="48456" y="48497"/>
                </a:lnTo>
                <a:lnTo>
                  <a:pt x="23296" y="80980"/>
                </a:lnTo>
                <a:lnTo>
                  <a:pt x="6724" y="119527"/>
                </a:lnTo>
                <a:lnTo>
                  <a:pt x="3604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5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5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04" y="139638"/>
                </a:lnTo>
                <a:lnTo>
                  <a:pt x="0" y="162880"/>
                </a:lnTo>
                <a:close/>
              </a:path>
              <a:path w="325755" h="325755">
                <a:moveTo>
                  <a:pt x="48341" y="277641"/>
                </a:moveTo>
                <a:lnTo>
                  <a:pt x="162835" y="277641"/>
                </a:lnTo>
                <a:lnTo>
                  <a:pt x="118177" y="267885"/>
                </a:lnTo>
                <a:lnTo>
                  <a:pt x="82211" y="243548"/>
                </a:lnTo>
                <a:lnTo>
                  <a:pt x="57878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90" y="186141"/>
                </a:lnTo>
                <a:lnTo>
                  <a:pt x="6706" y="205154"/>
                </a:lnTo>
                <a:lnTo>
                  <a:pt x="23181" y="243914"/>
                </a:lnTo>
                <a:lnTo>
                  <a:pt x="23282" y="244153"/>
                </a:lnTo>
                <a:lnTo>
                  <a:pt x="48341" y="277641"/>
                </a:lnTo>
                <a:close/>
              </a:path>
              <a:path w="325755" h="325755">
                <a:moveTo>
                  <a:pt x="3690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90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04526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5" h="325755">
                <a:moveTo>
                  <a:pt x="162835" y="325761"/>
                </a:moveTo>
                <a:lnTo>
                  <a:pt x="205128" y="319059"/>
                </a:lnTo>
                <a:lnTo>
                  <a:pt x="244134" y="302485"/>
                </a:lnTo>
                <a:lnTo>
                  <a:pt x="277776" y="277308"/>
                </a:lnTo>
                <a:lnTo>
                  <a:pt x="303976" y="244801"/>
                </a:lnTo>
                <a:lnTo>
                  <a:pt x="320654" y="206235"/>
                </a:lnTo>
                <a:lnTo>
                  <a:pt x="325735" y="162880"/>
                </a:lnTo>
                <a:lnTo>
                  <a:pt x="319028" y="120615"/>
                </a:lnTo>
                <a:lnTo>
                  <a:pt x="302552" y="81861"/>
                </a:lnTo>
                <a:lnTo>
                  <a:pt x="302450" y="81622"/>
                </a:lnTo>
                <a:lnTo>
                  <a:pt x="277373" y="48119"/>
                </a:lnTo>
                <a:lnTo>
                  <a:pt x="277271" y="47982"/>
                </a:lnTo>
                <a:lnTo>
                  <a:pt x="244761" y="21778"/>
                </a:lnTo>
                <a:lnTo>
                  <a:pt x="206193" y="5090"/>
                </a:lnTo>
                <a:lnTo>
                  <a:pt x="162835" y="0"/>
                </a:lnTo>
                <a:lnTo>
                  <a:pt x="119491" y="6750"/>
                </a:lnTo>
                <a:lnTo>
                  <a:pt x="80954" y="23335"/>
                </a:lnTo>
                <a:lnTo>
                  <a:pt x="48968" y="48119"/>
                </a:lnTo>
                <a:lnTo>
                  <a:pt x="162835" y="48119"/>
                </a:lnTo>
                <a:lnTo>
                  <a:pt x="206817" y="57849"/>
                </a:lnTo>
                <a:lnTo>
                  <a:pt x="243876" y="82200"/>
                </a:lnTo>
                <a:lnTo>
                  <a:pt x="269110" y="118201"/>
                </a:lnTo>
                <a:lnTo>
                  <a:pt x="277616" y="162880"/>
                </a:lnTo>
                <a:lnTo>
                  <a:pt x="267883" y="206858"/>
                </a:lnTo>
                <a:lnTo>
                  <a:pt x="243539" y="243914"/>
                </a:lnTo>
                <a:lnTo>
                  <a:pt x="207539" y="269143"/>
                </a:lnTo>
                <a:lnTo>
                  <a:pt x="162835" y="277641"/>
                </a:lnTo>
                <a:lnTo>
                  <a:pt x="48341" y="277641"/>
                </a:lnTo>
                <a:lnTo>
                  <a:pt x="48456" y="277795"/>
                </a:lnTo>
                <a:lnTo>
                  <a:pt x="80954" y="303998"/>
                </a:lnTo>
                <a:lnTo>
                  <a:pt x="119505" y="320680"/>
                </a:lnTo>
                <a:lnTo>
                  <a:pt x="162835" y="325761"/>
                </a:lnTo>
                <a:close/>
              </a:path>
              <a:path w="325755" h="325755">
                <a:moveTo>
                  <a:pt x="48119" y="162880"/>
                </a:moveTo>
                <a:lnTo>
                  <a:pt x="57851" y="118913"/>
                </a:lnTo>
                <a:lnTo>
                  <a:pt x="82187" y="81861"/>
                </a:lnTo>
                <a:lnTo>
                  <a:pt x="118168" y="56628"/>
                </a:lnTo>
                <a:lnTo>
                  <a:pt x="162835" y="48119"/>
                </a:lnTo>
                <a:lnTo>
                  <a:pt x="48968" y="48119"/>
                </a:lnTo>
                <a:lnTo>
                  <a:pt x="48480" y="48497"/>
                </a:lnTo>
                <a:lnTo>
                  <a:pt x="23325" y="80980"/>
                </a:lnTo>
                <a:lnTo>
                  <a:pt x="6746" y="119527"/>
                </a:lnTo>
                <a:lnTo>
                  <a:pt x="3616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5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5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16" y="139638"/>
                </a:lnTo>
                <a:lnTo>
                  <a:pt x="0" y="162880"/>
                </a:lnTo>
                <a:close/>
              </a:path>
              <a:path w="325755" h="325755">
                <a:moveTo>
                  <a:pt x="48341" y="277641"/>
                </a:moveTo>
                <a:lnTo>
                  <a:pt x="162835" y="277641"/>
                </a:lnTo>
                <a:lnTo>
                  <a:pt x="118177" y="267885"/>
                </a:lnTo>
                <a:lnTo>
                  <a:pt x="82211" y="243548"/>
                </a:lnTo>
                <a:lnTo>
                  <a:pt x="57878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90" y="186141"/>
                </a:lnTo>
                <a:lnTo>
                  <a:pt x="6706" y="205154"/>
                </a:lnTo>
                <a:lnTo>
                  <a:pt x="23181" y="243914"/>
                </a:lnTo>
                <a:lnTo>
                  <a:pt x="23282" y="244153"/>
                </a:lnTo>
                <a:lnTo>
                  <a:pt x="48341" y="277641"/>
                </a:lnTo>
                <a:close/>
              </a:path>
              <a:path w="325755" h="325755">
                <a:moveTo>
                  <a:pt x="3690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90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36935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5" h="325755">
                <a:moveTo>
                  <a:pt x="162899" y="325761"/>
                </a:moveTo>
                <a:lnTo>
                  <a:pt x="205143" y="319059"/>
                </a:lnTo>
                <a:lnTo>
                  <a:pt x="244125" y="302485"/>
                </a:lnTo>
                <a:lnTo>
                  <a:pt x="277760" y="277308"/>
                </a:lnTo>
                <a:lnTo>
                  <a:pt x="303964" y="244801"/>
                </a:lnTo>
                <a:lnTo>
                  <a:pt x="320650" y="206235"/>
                </a:lnTo>
                <a:lnTo>
                  <a:pt x="325735" y="162880"/>
                </a:lnTo>
                <a:lnTo>
                  <a:pt x="319029" y="120615"/>
                </a:lnTo>
                <a:lnTo>
                  <a:pt x="302554" y="81861"/>
                </a:lnTo>
                <a:lnTo>
                  <a:pt x="277381" y="48119"/>
                </a:lnTo>
                <a:lnTo>
                  <a:pt x="244781" y="21778"/>
                </a:lnTo>
                <a:lnTo>
                  <a:pt x="206230" y="5090"/>
                </a:lnTo>
                <a:lnTo>
                  <a:pt x="162899" y="0"/>
                </a:lnTo>
                <a:lnTo>
                  <a:pt x="119528" y="6750"/>
                </a:lnTo>
                <a:lnTo>
                  <a:pt x="80973" y="23335"/>
                </a:lnTo>
                <a:lnTo>
                  <a:pt x="48976" y="48119"/>
                </a:lnTo>
                <a:lnTo>
                  <a:pt x="162899" y="48119"/>
                </a:lnTo>
                <a:lnTo>
                  <a:pt x="206844" y="57849"/>
                </a:lnTo>
                <a:lnTo>
                  <a:pt x="243884" y="82200"/>
                </a:lnTo>
                <a:lnTo>
                  <a:pt x="269111" y="118201"/>
                </a:lnTo>
                <a:lnTo>
                  <a:pt x="277616" y="162880"/>
                </a:lnTo>
                <a:lnTo>
                  <a:pt x="267911" y="206858"/>
                </a:lnTo>
                <a:lnTo>
                  <a:pt x="243571" y="243914"/>
                </a:lnTo>
                <a:lnTo>
                  <a:pt x="207575" y="269143"/>
                </a:lnTo>
                <a:lnTo>
                  <a:pt x="162899" y="277641"/>
                </a:lnTo>
                <a:lnTo>
                  <a:pt x="48349" y="277641"/>
                </a:lnTo>
                <a:lnTo>
                  <a:pt x="48464" y="277795"/>
                </a:lnTo>
                <a:lnTo>
                  <a:pt x="80973" y="303998"/>
                </a:lnTo>
                <a:lnTo>
                  <a:pt x="119542" y="320680"/>
                </a:lnTo>
                <a:lnTo>
                  <a:pt x="162899" y="325761"/>
                </a:lnTo>
                <a:close/>
              </a:path>
              <a:path w="325755" h="325755">
                <a:moveTo>
                  <a:pt x="48119" y="162880"/>
                </a:moveTo>
                <a:lnTo>
                  <a:pt x="57825" y="118913"/>
                </a:lnTo>
                <a:lnTo>
                  <a:pt x="82171" y="81861"/>
                </a:lnTo>
                <a:lnTo>
                  <a:pt x="118187" y="56628"/>
                </a:lnTo>
                <a:lnTo>
                  <a:pt x="162899" y="48119"/>
                </a:lnTo>
                <a:lnTo>
                  <a:pt x="48976" y="48119"/>
                </a:lnTo>
                <a:lnTo>
                  <a:pt x="48488" y="48497"/>
                </a:lnTo>
                <a:lnTo>
                  <a:pt x="23327" y="80980"/>
                </a:lnTo>
                <a:lnTo>
                  <a:pt x="6746" y="119527"/>
                </a:lnTo>
                <a:lnTo>
                  <a:pt x="3616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5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5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16" y="139638"/>
                </a:lnTo>
                <a:lnTo>
                  <a:pt x="0" y="162880"/>
                </a:lnTo>
                <a:close/>
              </a:path>
              <a:path w="325755" h="325755">
                <a:moveTo>
                  <a:pt x="48349" y="277641"/>
                </a:moveTo>
                <a:lnTo>
                  <a:pt x="162899" y="277641"/>
                </a:lnTo>
                <a:lnTo>
                  <a:pt x="118205" y="267885"/>
                </a:lnTo>
                <a:lnTo>
                  <a:pt x="82219" y="243548"/>
                </a:lnTo>
                <a:lnTo>
                  <a:pt x="57879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90" y="186141"/>
                </a:lnTo>
                <a:lnTo>
                  <a:pt x="6706" y="205154"/>
                </a:lnTo>
                <a:lnTo>
                  <a:pt x="23183" y="243914"/>
                </a:lnTo>
                <a:lnTo>
                  <a:pt x="23285" y="244153"/>
                </a:lnTo>
                <a:lnTo>
                  <a:pt x="48349" y="277641"/>
                </a:lnTo>
                <a:close/>
              </a:path>
              <a:path w="325755" h="325755">
                <a:moveTo>
                  <a:pt x="3690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90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00791" y="643671"/>
            <a:ext cx="770255" cy="770255"/>
          </a:xfrm>
          <a:custGeom>
            <a:avLst/>
            <a:gdLst/>
            <a:ahLst/>
            <a:cxnLst/>
            <a:rect l="l" t="t" r="r" b="b"/>
            <a:pathLst>
              <a:path w="770255" h="770255">
                <a:moveTo>
                  <a:pt x="385018" y="770036"/>
                </a:moveTo>
                <a:lnTo>
                  <a:pt x="433310" y="767036"/>
                </a:lnTo>
                <a:lnTo>
                  <a:pt x="479814" y="758277"/>
                </a:lnTo>
                <a:lnTo>
                  <a:pt x="524167" y="744119"/>
                </a:lnTo>
                <a:lnTo>
                  <a:pt x="566010" y="724924"/>
                </a:lnTo>
                <a:lnTo>
                  <a:pt x="604980" y="701052"/>
                </a:lnTo>
                <a:lnTo>
                  <a:pt x="640717" y="672864"/>
                </a:lnTo>
                <a:lnTo>
                  <a:pt x="672861" y="640720"/>
                </a:lnTo>
                <a:lnTo>
                  <a:pt x="701049" y="604982"/>
                </a:lnTo>
                <a:lnTo>
                  <a:pt x="724922" y="566011"/>
                </a:lnTo>
                <a:lnTo>
                  <a:pt x="744118" y="524167"/>
                </a:lnTo>
                <a:lnTo>
                  <a:pt x="758277" y="479810"/>
                </a:lnTo>
                <a:lnTo>
                  <a:pt x="767036" y="433303"/>
                </a:lnTo>
                <a:lnTo>
                  <a:pt x="770036" y="385005"/>
                </a:lnTo>
                <a:lnTo>
                  <a:pt x="767036" y="336711"/>
                </a:lnTo>
                <a:lnTo>
                  <a:pt x="758277" y="290208"/>
                </a:lnTo>
                <a:lnTo>
                  <a:pt x="744118" y="245855"/>
                </a:lnTo>
                <a:lnTo>
                  <a:pt x="724922" y="204013"/>
                </a:lnTo>
                <a:lnTo>
                  <a:pt x="701049" y="165044"/>
                </a:lnTo>
                <a:lnTo>
                  <a:pt x="672861" y="129309"/>
                </a:lnTo>
                <a:lnTo>
                  <a:pt x="640717" y="97167"/>
                </a:lnTo>
                <a:lnTo>
                  <a:pt x="604980" y="68981"/>
                </a:lnTo>
                <a:lnTo>
                  <a:pt x="566010" y="45110"/>
                </a:lnTo>
                <a:lnTo>
                  <a:pt x="524167" y="25915"/>
                </a:lnTo>
                <a:lnTo>
                  <a:pt x="479814" y="11758"/>
                </a:lnTo>
                <a:lnTo>
                  <a:pt x="433311" y="2999"/>
                </a:lnTo>
                <a:lnTo>
                  <a:pt x="385018" y="0"/>
                </a:lnTo>
                <a:lnTo>
                  <a:pt x="336713" y="2999"/>
                </a:lnTo>
                <a:lnTo>
                  <a:pt x="290201" y="11758"/>
                </a:lnTo>
                <a:lnTo>
                  <a:pt x="245842" y="25915"/>
                </a:lnTo>
                <a:lnTo>
                  <a:pt x="203998" y="45110"/>
                </a:lnTo>
                <a:lnTo>
                  <a:pt x="165028" y="68981"/>
                </a:lnTo>
                <a:lnTo>
                  <a:pt x="129293" y="97167"/>
                </a:lnTo>
                <a:lnTo>
                  <a:pt x="97153" y="129309"/>
                </a:lnTo>
                <a:lnTo>
                  <a:pt x="68969" y="165044"/>
                </a:lnTo>
                <a:lnTo>
                  <a:pt x="45101" y="204013"/>
                </a:lnTo>
                <a:lnTo>
                  <a:pt x="25910" y="245855"/>
                </a:lnTo>
                <a:lnTo>
                  <a:pt x="11755" y="290208"/>
                </a:lnTo>
                <a:lnTo>
                  <a:pt x="2999" y="336711"/>
                </a:lnTo>
                <a:lnTo>
                  <a:pt x="0" y="385005"/>
                </a:lnTo>
                <a:lnTo>
                  <a:pt x="2999" y="433303"/>
                </a:lnTo>
                <a:lnTo>
                  <a:pt x="11755" y="479810"/>
                </a:lnTo>
                <a:lnTo>
                  <a:pt x="25910" y="524167"/>
                </a:lnTo>
                <a:lnTo>
                  <a:pt x="45101" y="566011"/>
                </a:lnTo>
                <a:lnTo>
                  <a:pt x="68969" y="604982"/>
                </a:lnTo>
                <a:lnTo>
                  <a:pt x="97153" y="640720"/>
                </a:lnTo>
                <a:lnTo>
                  <a:pt x="129293" y="672864"/>
                </a:lnTo>
                <a:lnTo>
                  <a:pt x="165028" y="701052"/>
                </a:lnTo>
                <a:lnTo>
                  <a:pt x="203998" y="724924"/>
                </a:lnTo>
                <a:lnTo>
                  <a:pt x="245842" y="744119"/>
                </a:lnTo>
                <a:lnTo>
                  <a:pt x="290201" y="758277"/>
                </a:lnTo>
                <a:lnTo>
                  <a:pt x="336713" y="767036"/>
                </a:lnTo>
                <a:lnTo>
                  <a:pt x="385018" y="770036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1" name="Statement 1001"/>
          <p:cNvSpPr/>
          <p:nvPr/>
        </p:nvSpPr>
        <p:spPr>
          <a:xfrm>
            <a:off x="3000000" y="4300000"/>
            <a:ext cx="13100000" cy="19800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320000" tIns="100000" rIns="320000" bIns="10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1" i="0" dirty="0">
                <a:solidFill>
                  <a:srgbClr val="A31111"/>
                </a:solidFill>
                <a:latin typeface="Arial"/>
                <a:cs typeface="Arial"/>
              </a:rPr>
              <a:t>MISC01  |  Class 10 Career Decision Support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100" b="0" i="0" dirty="0">
                <a:solidFill>
                  <a:srgbClr val="2B2B2B"/>
                </a:solidFill>
                <a:latin typeface="Arial"/>
                <a:cs typeface="Arial"/>
              </a:rPr>
              <a:t>Class 10 students choose streams with limited information on interests, finances and outcomes, and most tools assume every exam goes to plan.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dirty="0">
                <a:solidFill>
                  <a:srgbClr val="A31111"/>
                </a:solidFill>
                <a:latin typeface="Arial"/>
                <a:cs typeface="Arial"/>
              </a:rPr>
              <a:t>Build an AI decision-support platform showing multiple pathways with costs, funding, loans and Plan B scenarios.</a:t>
            </a:r>
          </a:p>
        </p:txBody>
      </p:sp>
      <p:sp>
        <p:nvSpPr>
          <p:cNvPr id="1002" name="Text 1002"/>
          <p:cNvSpPr txBox="1"/>
          <p:nvPr/>
        </p:nvSpPr>
        <p:spPr>
          <a:xfrm>
            <a:off x="4700000" y="6400000"/>
            <a:ext cx="97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A31111"/>
                </a:solidFill>
                <a:latin typeface="Arial"/>
                <a:cs typeface="Arial"/>
              </a:rPr>
              <a:t>TEAM PATHSIM AI</a:t>
            </a:r>
          </a:p>
        </p:txBody>
      </p:sp>
      <p:sp>
        <p:nvSpPr>
          <p:cNvPr id="1003" name="Member 1003"/>
          <p:cNvSpPr/>
          <p:nvPr/>
        </p:nvSpPr>
        <p:spPr>
          <a:xfrm>
            <a:off x="4700000" y="6900000"/>
            <a:ext cx="4700000" cy="105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200" b="1" i="0" dirty="0">
                <a:solidFill>
                  <a:srgbClr val="2B2B2B"/>
                </a:solidFill>
                <a:latin typeface="Arial"/>
                <a:cs typeface="Arial"/>
              </a:rPr>
              <a:t>Maitri Sudrik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6B6B6B"/>
                </a:solidFill>
                <a:latin typeface="Arial"/>
                <a:cs typeface="Arial"/>
              </a:rPr>
              <a:t>PRN: 125B1C162</a:t>
            </a:r>
          </a:p>
        </p:txBody>
      </p:sp>
      <p:sp>
        <p:nvSpPr>
          <p:cNvPr id="1004" name="Member 1004"/>
          <p:cNvSpPr/>
          <p:nvPr/>
        </p:nvSpPr>
        <p:spPr>
          <a:xfrm>
            <a:off x="9700000" y="6900000"/>
            <a:ext cx="4700000" cy="105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200" b="1" i="0" dirty="0">
                <a:solidFill>
                  <a:srgbClr val="2B2B2B"/>
                </a:solidFill>
                <a:latin typeface="Arial"/>
                <a:cs typeface="Arial"/>
              </a:rPr>
              <a:t>Komal Koshti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6B6B6B"/>
                </a:solidFill>
                <a:latin typeface="Arial"/>
                <a:cs typeface="Arial"/>
              </a:rPr>
              <a:t>PRN: 125B1C045</a:t>
            </a:r>
          </a:p>
        </p:txBody>
      </p:sp>
      <p:sp>
        <p:nvSpPr>
          <p:cNvPr id="1005" name="Member 1005"/>
          <p:cNvSpPr/>
          <p:nvPr/>
        </p:nvSpPr>
        <p:spPr>
          <a:xfrm>
            <a:off x="4700000" y="8100000"/>
            <a:ext cx="4700000" cy="105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200" b="1" i="0" dirty="0">
                <a:solidFill>
                  <a:srgbClr val="2B2B2B"/>
                </a:solidFill>
                <a:latin typeface="Arial"/>
                <a:cs typeface="Arial"/>
              </a:rPr>
              <a:t>Swara Pande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6B6B6B"/>
                </a:solidFill>
                <a:latin typeface="Arial"/>
                <a:cs typeface="Arial"/>
              </a:rPr>
              <a:t>PRN: 125B1C161</a:t>
            </a:r>
          </a:p>
        </p:txBody>
      </p:sp>
      <p:sp>
        <p:nvSpPr>
          <p:cNvPr id="1006" name="Member 1006"/>
          <p:cNvSpPr/>
          <p:nvPr/>
        </p:nvSpPr>
        <p:spPr>
          <a:xfrm>
            <a:off x="9700000" y="8100000"/>
            <a:ext cx="4700000" cy="105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A31111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200" b="1" i="0" dirty="0">
                <a:solidFill>
                  <a:srgbClr val="2B2B2B"/>
                </a:solidFill>
                <a:latin typeface="Arial"/>
                <a:cs typeface="Arial"/>
              </a:rPr>
              <a:t>Kritika Kavtikwar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6B6B6B"/>
                </a:solidFill>
                <a:latin typeface="Arial"/>
                <a:cs typeface="Arial"/>
              </a:rPr>
              <a:t>PRN: 125B1C159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3" name="object 3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39087" y="7567104"/>
            <a:ext cx="3649345" cy="2720340"/>
          </a:xfrm>
          <a:custGeom>
            <a:avLst/>
            <a:gdLst/>
            <a:ahLst/>
            <a:cxnLst/>
            <a:rect l="l" t="t" r="r" b="b"/>
            <a:pathLst>
              <a:path w="3649344" h="2720340">
                <a:moveTo>
                  <a:pt x="1138948" y="1625993"/>
                </a:moveTo>
                <a:lnTo>
                  <a:pt x="1057148" y="1635912"/>
                </a:lnTo>
                <a:lnTo>
                  <a:pt x="1006360" y="1663039"/>
                </a:lnTo>
                <a:lnTo>
                  <a:pt x="956259" y="1690560"/>
                </a:lnTo>
                <a:lnTo>
                  <a:pt x="906907" y="1718487"/>
                </a:lnTo>
                <a:lnTo>
                  <a:pt x="881773" y="1704543"/>
                </a:lnTo>
                <a:lnTo>
                  <a:pt x="833983" y="1733334"/>
                </a:lnTo>
                <a:lnTo>
                  <a:pt x="787031" y="1762594"/>
                </a:lnTo>
                <a:lnTo>
                  <a:pt x="740956" y="1792351"/>
                </a:lnTo>
                <a:lnTo>
                  <a:pt x="695782" y="1822589"/>
                </a:lnTo>
                <a:lnTo>
                  <a:pt x="651560" y="1853361"/>
                </a:lnTo>
                <a:lnTo>
                  <a:pt x="608304" y="1884680"/>
                </a:lnTo>
                <a:lnTo>
                  <a:pt x="566051" y="1916544"/>
                </a:lnTo>
                <a:lnTo>
                  <a:pt x="524497" y="1948802"/>
                </a:lnTo>
                <a:lnTo>
                  <a:pt x="484022" y="1981657"/>
                </a:lnTo>
                <a:lnTo>
                  <a:pt x="444677" y="2015134"/>
                </a:lnTo>
                <a:lnTo>
                  <a:pt x="429983" y="2006981"/>
                </a:lnTo>
                <a:lnTo>
                  <a:pt x="393065" y="2041817"/>
                </a:lnTo>
                <a:lnTo>
                  <a:pt x="357441" y="2077351"/>
                </a:lnTo>
                <a:lnTo>
                  <a:pt x="299707" y="2155939"/>
                </a:lnTo>
                <a:lnTo>
                  <a:pt x="266827" y="2193023"/>
                </a:lnTo>
                <a:lnTo>
                  <a:pt x="235419" y="2230894"/>
                </a:lnTo>
                <a:lnTo>
                  <a:pt x="205524" y="2269617"/>
                </a:lnTo>
                <a:lnTo>
                  <a:pt x="177190" y="2309215"/>
                </a:lnTo>
                <a:lnTo>
                  <a:pt x="150482" y="2349716"/>
                </a:lnTo>
                <a:lnTo>
                  <a:pt x="125463" y="2391130"/>
                </a:lnTo>
                <a:lnTo>
                  <a:pt x="102158" y="2433523"/>
                </a:lnTo>
                <a:lnTo>
                  <a:pt x="80657" y="2476906"/>
                </a:lnTo>
                <a:lnTo>
                  <a:pt x="60985" y="2521305"/>
                </a:lnTo>
                <a:lnTo>
                  <a:pt x="43218" y="2566759"/>
                </a:lnTo>
                <a:lnTo>
                  <a:pt x="27470" y="2613329"/>
                </a:lnTo>
                <a:lnTo>
                  <a:pt x="13741" y="2661018"/>
                </a:lnTo>
                <a:lnTo>
                  <a:pt x="1981" y="2709811"/>
                </a:lnTo>
                <a:lnTo>
                  <a:pt x="0" y="2719908"/>
                </a:lnTo>
                <a:lnTo>
                  <a:pt x="20180" y="2719908"/>
                </a:lnTo>
                <a:lnTo>
                  <a:pt x="18148" y="2718778"/>
                </a:lnTo>
                <a:lnTo>
                  <a:pt x="31165" y="2670695"/>
                </a:lnTo>
                <a:lnTo>
                  <a:pt x="46037" y="2623629"/>
                </a:lnTo>
                <a:lnTo>
                  <a:pt x="62687" y="2577554"/>
                </a:lnTo>
                <a:lnTo>
                  <a:pt x="81102" y="2532456"/>
                </a:lnTo>
                <a:lnTo>
                  <a:pt x="101219" y="2488311"/>
                </a:lnTo>
                <a:lnTo>
                  <a:pt x="122999" y="2445080"/>
                </a:lnTo>
                <a:lnTo>
                  <a:pt x="146405" y="2402751"/>
                </a:lnTo>
                <a:lnTo>
                  <a:pt x="171386" y="2361311"/>
                </a:lnTo>
                <a:lnTo>
                  <a:pt x="197904" y="2320709"/>
                </a:lnTo>
                <a:lnTo>
                  <a:pt x="225907" y="2280932"/>
                </a:lnTo>
                <a:lnTo>
                  <a:pt x="255371" y="2241969"/>
                </a:lnTo>
                <a:lnTo>
                  <a:pt x="286219" y="2203780"/>
                </a:lnTo>
                <a:lnTo>
                  <a:pt x="318452" y="2166340"/>
                </a:lnTo>
                <a:lnTo>
                  <a:pt x="351993" y="2129637"/>
                </a:lnTo>
                <a:lnTo>
                  <a:pt x="386803" y="2093645"/>
                </a:lnTo>
                <a:lnTo>
                  <a:pt x="422846" y="2058339"/>
                </a:lnTo>
                <a:lnTo>
                  <a:pt x="460082" y="2023681"/>
                </a:lnTo>
                <a:lnTo>
                  <a:pt x="498462" y="1989670"/>
                </a:lnTo>
                <a:lnTo>
                  <a:pt x="537933" y="1956257"/>
                </a:lnTo>
                <a:lnTo>
                  <a:pt x="578472" y="1923440"/>
                </a:lnTo>
                <a:lnTo>
                  <a:pt x="620026" y="1891182"/>
                </a:lnTo>
                <a:lnTo>
                  <a:pt x="662546" y="1859457"/>
                </a:lnTo>
                <a:lnTo>
                  <a:pt x="682523" y="1870544"/>
                </a:lnTo>
                <a:lnTo>
                  <a:pt x="726859" y="1839836"/>
                </a:lnTo>
                <a:lnTo>
                  <a:pt x="772033" y="1809584"/>
                </a:lnTo>
                <a:lnTo>
                  <a:pt x="818007" y="1779790"/>
                </a:lnTo>
                <a:lnTo>
                  <a:pt x="864730" y="1750402"/>
                </a:lnTo>
                <a:lnTo>
                  <a:pt x="912164" y="1721408"/>
                </a:lnTo>
                <a:lnTo>
                  <a:pt x="960272" y="1692783"/>
                </a:lnTo>
                <a:lnTo>
                  <a:pt x="985532" y="1706803"/>
                </a:lnTo>
                <a:lnTo>
                  <a:pt x="1034846" y="1678851"/>
                </a:lnTo>
                <a:lnTo>
                  <a:pt x="1086612" y="1652257"/>
                </a:lnTo>
                <a:lnTo>
                  <a:pt x="1138948" y="1625993"/>
                </a:lnTo>
                <a:close/>
              </a:path>
              <a:path w="3649344" h="2720340">
                <a:moveTo>
                  <a:pt x="1618653" y="1504975"/>
                </a:moveTo>
                <a:lnTo>
                  <a:pt x="1584045" y="1485773"/>
                </a:lnTo>
                <a:lnTo>
                  <a:pt x="1527263" y="1509572"/>
                </a:lnTo>
                <a:lnTo>
                  <a:pt x="1470799" y="1533563"/>
                </a:lnTo>
                <a:lnTo>
                  <a:pt x="1438173" y="1515452"/>
                </a:lnTo>
                <a:lnTo>
                  <a:pt x="1382445" y="1539849"/>
                </a:lnTo>
                <a:lnTo>
                  <a:pt x="1327721" y="1564792"/>
                </a:lnTo>
                <a:lnTo>
                  <a:pt x="1296924" y="1547710"/>
                </a:lnTo>
                <a:lnTo>
                  <a:pt x="1243152" y="1573187"/>
                </a:lnTo>
                <a:lnTo>
                  <a:pt x="1189913" y="1598955"/>
                </a:lnTo>
                <a:lnTo>
                  <a:pt x="1137234" y="1625028"/>
                </a:lnTo>
                <a:lnTo>
                  <a:pt x="1138948" y="1625993"/>
                </a:lnTo>
                <a:lnTo>
                  <a:pt x="1168374" y="1642313"/>
                </a:lnTo>
                <a:lnTo>
                  <a:pt x="1221790" y="1616646"/>
                </a:lnTo>
                <a:lnTo>
                  <a:pt x="1275715" y="1591246"/>
                </a:lnTo>
                <a:lnTo>
                  <a:pt x="1330121" y="1566138"/>
                </a:lnTo>
                <a:lnTo>
                  <a:pt x="1361541" y="1583550"/>
                </a:lnTo>
                <a:lnTo>
                  <a:pt x="1416850" y="1558937"/>
                </a:lnTo>
                <a:lnTo>
                  <a:pt x="1472577" y="1534566"/>
                </a:lnTo>
                <a:lnTo>
                  <a:pt x="1505267" y="1552676"/>
                </a:lnTo>
                <a:lnTo>
                  <a:pt x="1561782" y="1528724"/>
                </a:lnTo>
                <a:lnTo>
                  <a:pt x="1618653" y="1504975"/>
                </a:lnTo>
                <a:close/>
              </a:path>
              <a:path w="3649344" h="2720340">
                <a:moveTo>
                  <a:pt x="1919287" y="1450530"/>
                </a:moveTo>
                <a:lnTo>
                  <a:pt x="1883892" y="1430896"/>
                </a:lnTo>
                <a:lnTo>
                  <a:pt x="1767268" y="1476806"/>
                </a:lnTo>
                <a:lnTo>
                  <a:pt x="1732788" y="1457667"/>
                </a:lnTo>
                <a:lnTo>
                  <a:pt x="1675091" y="1480972"/>
                </a:lnTo>
                <a:lnTo>
                  <a:pt x="1617687" y="1504429"/>
                </a:lnTo>
                <a:lnTo>
                  <a:pt x="1618653" y="1504975"/>
                </a:lnTo>
                <a:lnTo>
                  <a:pt x="1652397" y="1523695"/>
                </a:lnTo>
                <a:lnTo>
                  <a:pt x="1709928" y="1500301"/>
                </a:lnTo>
                <a:lnTo>
                  <a:pt x="1767738" y="1477086"/>
                </a:lnTo>
                <a:lnTo>
                  <a:pt x="1802371" y="1496275"/>
                </a:lnTo>
                <a:lnTo>
                  <a:pt x="1919287" y="1450530"/>
                </a:lnTo>
                <a:close/>
              </a:path>
              <a:path w="3649344" h="2720340">
                <a:moveTo>
                  <a:pt x="3648900" y="68046"/>
                </a:moveTo>
                <a:lnTo>
                  <a:pt x="3607371" y="50292"/>
                </a:lnTo>
                <a:lnTo>
                  <a:pt x="3566109" y="35890"/>
                </a:lnTo>
                <a:lnTo>
                  <a:pt x="3523665" y="23939"/>
                </a:lnTo>
                <a:lnTo>
                  <a:pt x="3480206" y="14389"/>
                </a:lnTo>
                <a:lnTo>
                  <a:pt x="3435921" y="7239"/>
                </a:lnTo>
                <a:lnTo>
                  <a:pt x="3390963" y="2476"/>
                </a:lnTo>
                <a:lnTo>
                  <a:pt x="3345510" y="76"/>
                </a:lnTo>
                <a:lnTo>
                  <a:pt x="3299726" y="0"/>
                </a:lnTo>
                <a:lnTo>
                  <a:pt x="3253790" y="2260"/>
                </a:lnTo>
                <a:lnTo>
                  <a:pt x="3207867" y="6819"/>
                </a:lnTo>
                <a:lnTo>
                  <a:pt x="3162122" y="13652"/>
                </a:lnTo>
                <a:lnTo>
                  <a:pt x="3116732" y="22758"/>
                </a:lnTo>
                <a:lnTo>
                  <a:pt x="3071863" y="34112"/>
                </a:lnTo>
                <a:lnTo>
                  <a:pt x="3027680" y="47675"/>
                </a:lnTo>
                <a:lnTo>
                  <a:pt x="2984360" y="63449"/>
                </a:lnTo>
                <a:lnTo>
                  <a:pt x="2942069" y="81419"/>
                </a:lnTo>
                <a:lnTo>
                  <a:pt x="2900984" y="101549"/>
                </a:lnTo>
                <a:lnTo>
                  <a:pt x="2861272" y="123812"/>
                </a:lnTo>
                <a:lnTo>
                  <a:pt x="2823083" y="148221"/>
                </a:lnTo>
                <a:lnTo>
                  <a:pt x="2782049" y="177546"/>
                </a:lnTo>
                <a:lnTo>
                  <a:pt x="2742539" y="208432"/>
                </a:lnTo>
                <a:lnTo>
                  <a:pt x="2704503" y="240804"/>
                </a:lnTo>
                <a:lnTo>
                  <a:pt x="2667863" y="274599"/>
                </a:lnTo>
                <a:lnTo>
                  <a:pt x="2632583" y="309727"/>
                </a:lnTo>
                <a:lnTo>
                  <a:pt x="2598585" y="346113"/>
                </a:lnTo>
                <a:lnTo>
                  <a:pt x="2565806" y="383692"/>
                </a:lnTo>
                <a:lnTo>
                  <a:pt x="2534183" y="422376"/>
                </a:lnTo>
                <a:lnTo>
                  <a:pt x="2503665" y="462089"/>
                </a:lnTo>
                <a:lnTo>
                  <a:pt x="2474163" y="502767"/>
                </a:lnTo>
                <a:lnTo>
                  <a:pt x="2445639" y="544322"/>
                </a:lnTo>
                <a:lnTo>
                  <a:pt x="2418029" y="586689"/>
                </a:lnTo>
                <a:lnTo>
                  <a:pt x="2391245" y="629780"/>
                </a:lnTo>
                <a:lnTo>
                  <a:pt x="2365260" y="673519"/>
                </a:lnTo>
                <a:lnTo>
                  <a:pt x="2339975" y="717854"/>
                </a:lnTo>
                <a:lnTo>
                  <a:pt x="2315349" y="762673"/>
                </a:lnTo>
                <a:lnTo>
                  <a:pt x="2291321" y="807935"/>
                </a:lnTo>
                <a:lnTo>
                  <a:pt x="2267826" y="853541"/>
                </a:lnTo>
                <a:lnTo>
                  <a:pt x="2244788" y="899414"/>
                </a:lnTo>
                <a:lnTo>
                  <a:pt x="2222157" y="945489"/>
                </a:lnTo>
                <a:lnTo>
                  <a:pt x="2199856" y="991692"/>
                </a:lnTo>
                <a:lnTo>
                  <a:pt x="2177846" y="1037932"/>
                </a:lnTo>
                <a:lnTo>
                  <a:pt x="2156041" y="1084160"/>
                </a:lnTo>
                <a:lnTo>
                  <a:pt x="2112835" y="1176197"/>
                </a:lnTo>
                <a:lnTo>
                  <a:pt x="2091944" y="1220317"/>
                </a:lnTo>
                <a:lnTo>
                  <a:pt x="2070671" y="1264526"/>
                </a:lnTo>
                <a:lnTo>
                  <a:pt x="2048979" y="1308747"/>
                </a:lnTo>
                <a:lnTo>
                  <a:pt x="2026818" y="1352880"/>
                </a:lnTo>
                <a:lnTo>
                  <a:pt x="2004161" y="1396873"/>
                </a:lnTo>
                <a:lnTo>
                  <a:pt x="1985492" y="1432039"/>
                </a:lnTo>
                <a:lnTo>
                  <a:pt x="1977809" y="1427772"/>
                </a:lnTo>
                <a:lnTo>
                  <a:pt x="1919071" y="1450403"/>
                </a:lnTo>
                <a:lnTo>
                  <a:pt x="1919287" y="1450530"/>
                </a:lnTo>
                <a:lnTo>
                  <a:pt x="1954593" y="1470126"/>
                </a:lnTo>
                <a:lnTo>
                  <a:pt x="1967471" y="1465199"/>
                </a:lnTo>
                <a:lnTo>
                  <a:pt x="1957133" y="1484058"/>
                </a:lnTo>
                <a:lnTo>
                  <a:pt x="1932686" y="1527098"/>
                </a:lnTo>
                <a:lnTo>
                  <a:pt x="1907565" y="1569669"/>
                </a:lnTo>
                <a:lnTo>
                  <a:pt x="1881733" y="1611693"/>
                </a:lnTo>
                <a:lnTo>
                  <a:pt x="1855139" y="1653070"/>
                </a:lnTo>
                <a:lnTo>
                  <a:pt x="1827745" y="1693748"/>
                </a:lnTo>
                <a:lnTo>
                  <a:pt x="1799501" y="1733626"/>
                </a:lnTo>
                <a:lnTo>
                  <a:pt x="1770367" y="1772627"/>
                </a:lnTo>
                <a:lnTo>
                  <a:pt x="1740319" y="1810689"/>
                </a:lnTo>
                <a:lnTo>
                  <a:pt x="1709293" y="1847710"/>
                </a:lnTo>
                <a:lnTo>
                  <a:pt x="1677250" y="1883613"/>
                </a:lnTo>
                <a:lnTo>
                  <a:pt x="1644154" y="1918335"/>
                </a:lnTo>
                <a:lnTo>
                  <a:pt x="1609979" y="1951786"/>
                </a:lnTo>
                <a:lnTo>
                  <a:pt x="1574647" y="1983879"/>
                </a:lnTo>
                <a:lnTo>
                  <a:pt x="1538147" y="2014537"/>
                </a:lnTo>
                <a:lnTo>
                  <a:pt x="1500416" y="2043696"/>
                </a:lnTo>
                <a:lnTo>
                  <a:pt x="1461427" y="2071255"/>
                </a:lnTo>
                <a:lnTo>
                  <a:pt x="1421130" y="2097151"/>
                </a:lnTo>
                <a:lnTo>
                  <a:pt x="1379486" y="2121293"/>
                </a:lnTo>
                <a:lnTo>
                  <a:pt x="1336459" y="2143595"/>
                </a:lnTo>
                <a:lnTo>
                  <a:pt x="1293177" y="2163534"/>
                </a:lnTo>
                <a:lnTo>
                  <a:pt x="1248943" y="2181682"/>
                </a:lnTo>
                <a:lnTo>
                  <a:pt x="1203858" y="2198243"/>
                </a:lnTo>
                <a:lnTo>
                  <a:pt x="1158049" y="2213419"/>
                </a:lnTo>
                <a:lnTo>
                  <a:pt x="1111618" y="2227402"/>
                </a:lnTo>
                <a:lnTo>
                  <a:pt x="1064704" y="2240381"/>
                </a:lnTo>
                <a:lnTo>
                  <a:pt x="1017397" y="2252561"/>
                </a:lnTo>
                <a:lnTo>
                  <a:pt x="969848" y="2264143"/>
                </a:lnTo>
                <a:lnTo>
                  <a:pt x="779348" y="2308377"/>
                </a:lnTo>
                <a:lnTo>
                  <a:pt x="732231" y="2319883"/>
                </a:lnTo>
                <a:lnTo>
                  <a:pt x="685571" y="2331974"/>
                </a:lnTo>
                <a:lnTo>
                  <a:pt x="639470" y="2344839"/>
                </a:lnTo>
                <a:lnTo>
                  <a:pt x="594042" y="2358682"/>
                </a:lnTo>
                <a:lnTo>
                  <a:pt x="549402" y="2373680"/>
                </a:lnTo>
                <a:lnTo>
                  <a:pt x="505675" y="2390038"/>
                </a:lnTo>
                <a:lnTo>
                  <a:pt x="462978" y="2407970"/>
                </a:lnTo>
                <a:lnTo>
                  <a:pt x="421436" y="2427643"/>
                </a:lnTo>
                <a:lnTo>
                  <a:pt x="381139" y="2449284"/>
                </a:lnTo>
                <a:lnTo>
                  <a:pt x="342226" y="2473058"/>
                </a:lnTo>
                <a:lnTo>
                  <a:pt x="304812" y="2499195"/>
                </a:lnTo>
                <a:lnTo>
                  <a:pt x="269011" y="2527858"/>
                </a:lnTo>
                <a:lnTo>
                  <a:pt x="234937" y="2559278"/>
                </a:lnTo>
                <a:lnTo>
                  <a:pt x="202717" y="2593619"/>
                </a:lnTo>
                <a:lnTo>
                  <a:pt x="173164" y="2630589"/>
                </a:lnTo>
                <a:lnTo>
                  <a:pt x="147053" y="2669489"/>
                </a:lnTo>
                <a:lnTo>
                  <a:pt x="124345" y="2710142"/>
                </a:lnTo>
                <a:lnTo>
                  <a:pt x="119862" y="2719908"/>
                </a:lnTo>
                <a:lnTo>
                  <a:pt x="3648900" y="2719908"/>
                </a:lnTo>
                <a:lnTo>
                  <a:pt x="3648900" y="1232039"/>
                </a:lnTo>
                <a:lnTo>
                  <a:pt x="3648900" y="1202334"/>
                </a:lnTo>
                <a:lnTo>
                  <a:pt x="3648900" y="68046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000000" y="1330000"/>
            <a:ext cx="14500000" cy="90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n-US" sz="4800" b="1" dirty="0">
                <a:solidFill>
                  <a:srgbClr val="A31111"/>
                </a:solidFill>
                <a:latin typeface="Tahoma"/>
                <a:cs typeface="Tahoma"/>
              </a:rPr>
              <a:t>ABSTRACT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sp>
        <p:nvSpPr>
          <p:cNvPr id="1007" name="Pitch 1007"/>
          <p:cNvSpPr/>
          <p:nvPr/>
        </p:nvSpPr>
        <p:spPr>
          <a:xfrm>
            <a:off x="1000000" y="2450000"/>
            <a:ext cx="15200000" cy="1000000"/>
          </a:xfrm>
          <a:prstGeom prst="roundRect">
            <a:avLst>
              <a:gd name="adj" fmla="val 20000"/>
            </a:avLst>
          </a:prstGeom>
          <a:solidFill>
            <a:srgbClr val="FBE9E9"/>
          </a:solidFill>
          <a:ln w="12700">
            <a:solidFill>
              <a:srgbClr val="EB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1" dirty="0">
                <a:solidFill>
                  <a:srgbClr val="A31111"/>
                </a:solidFill>
                <a:latin typeface="Arial"/>
                <a:cs typeface="Arial"/>
              </a:rPr>
              <a:t>“Try your career before you choose it, and know your Plan B before you need it.”</a:t>
            </a:r>
          </a:p>
        </p:txBody>
      </p:sp>
      <p:sp>
        <p:nvSpPr>
          <p:cNvPr id="1008" name="Card 1008"/>
          <p:cNvSpPr/>
          <p:nvPr/>
        </p:nvSpPr>
        <p:spPr>
          <a:xfrm>
            <a:off x="1000000" y="3750000"/>
            <a:ext cx="4900000" cy="3550000"/>
          </a:xfrm>
          <a:prstGeom prst="roundRect">
            <a:avLst>
              <a:gd name="adj" fmla="val 5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09" name="Box 1009"/>
          <p:cNvSpPr/>
          <p:nvPr/>
        </p:nvSpPr>
        <p:spPr>
          <a:xfrm>
            <a:off x="1150000" y="3900000"/>
            <a:ext cx="4600000" cy="600000"/>
          </a:xfrm>
          <a:prstGeom prst="roundRect">
            <a:avLst>
              <a:gd name="adj" fmla="val 30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Arial"/>
                <a:cs typeface="Arial"/>
              </a:rPr>
              <a:t>THE PROBLEM</a:t>
            </a:r>
          </a:p>
        </p:txBody>
      </p:sp>
      <p:sp>
        <p:nvSpPr>
          <p:cNvPr id="1010" name="Bullets 1010"/>
          <p:cNvSpPr txBox="1"/>
          <p:nvPr/>
        </p:nvSpPr>
        <p:spPr>
          <a:xfrm>
            <a:off x="1250000" y="4700000"/>
            <a:ext cx="4450000" cy="2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Limited info on interests, finances and outcomes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Tools assume every plan works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No Plan B if an exam goes wrong</a:t>
            </a:r>
          </a:p>
        </p:txBody>
      </p:sp>
      <p:sp>
        <p:nvSpPr>
          <p:cNvPr id="1011" name="Card 1011"/>
          <p:cNvSpPr/>
          <p:nvPr/>
        </p:nvSpPr>
        <p:spPr>
          <a:xfrm>
            <a:off x="6150000" y="3750000"/>
            <a:ext cx="4900000" cy="3550000"/>
          </a:xfrm>
          <a:prstGeom prst="roundRect">
            <a:avLst>
              <a:gd name="adj" fmla="val 5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12" name="Box 1012"/>
          <p:cNvSpPr/>
          <p:nvPr/>
        </p:nvSpPr>
        <p:spPr>
          <a:xfrm>
            <a:off x="6300000" y="3900000"/>
            <a:ext cx="4600000" cy="600000"/>
          </a:xfrm>
          <a:prstGeom prst="roundRect">
            <a:avLst>
              <a:gd name="adj" fmla="val 30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Arial"/>
                <a:cs typeface="Arial"/>
              </a:rPr>
              <a:t>OUR SOLUTION</a:t>
            </a:r>
          </a:p>
        </p:txBody>
      </p:sp>
      <p:sp>
        <p:nvSpPr>
          <p:cNvPr id="1013" name="Bullets 1013"/>
          <p:cNvSpPr txBox="1"/>
          <p:nvPr/>
        </p:nvSpPr>
        <p:spPr>
          <a:xfrm>
            <a:off x="6400000" y="4700000"/>
            <a:ext cx="4450000" cy="2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AI profile → multiple ranked pathways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Interactive skill-tree with cost and risk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Plan B recalibrator re-routes live</a:t>
            </a:r>
          </a:p>
        </p:txBody>
      </p:sp>
      <p:sp>
        <p:nvSpPr>
          <p:cNvPr id="1014" name="Card 1014"/>
          <p:cNvSpPr/>
          <p:nvPr/>
        </p:nvSpPr>
        <p:spPr>
          <a:xfrm>
            <a:off x="11300000" y="3750000"/>
            <a:ext cx="4900000" cy="3550000"/>
          </a:xfrm>
          <a:prstGeom prst="roundRect">
            <a:avLst>
              <a:gd name="adj" fmla="val 5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15" name="Box 1015"/>
          <p:cNvSpPr/>
          <p:nvPr/>
        </p:nvSpPr>
        <p:spPr>
          <a:xfrm>
            <a:off x="11450000" y="3900000"/>
            <a:ext cx="4600000" cy="600000"/>
          </a:xfrm>
          <a:prstGeom prst="roundRect">
            <a:avLst>
              <a:gd name="adj" fmla="val 30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Arial"/>
                <a:cs typeface="Arial"/>
              </a:rPr>
              <a:t>THE OUTCOME</a:t>
            </a:r>
          </a:p>
        </p:txBody>
      </p:sp>
      <p:sp>
        <p:nvSpPr>
          <p:cNvPr id="1016" name="Bullets 1016"/>
          <p:cNvSpPr txBox="1"/>
          <p:nvPr/>
        </p:nvSpPr>
        <p:spPr>
          <a:xfrm>
            <a:off x="11550000" y="4700000"/>
            <a:ext cx="4450000" cy="2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Informed, confident stream choice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Cost, loan and ROI shown as ranges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Students and parents aligned</a:t>
            </a:r>
          </a:p>
        </p:txBody>
      </p:sp>
      <p:cxnSp>
        <p:nvCxnSpPr>
          <p:cNvPr id="1017" name="Arrow 1017"/>
          <p:cNvCxnSpPr/>
          <p:nvPr/>
        </p:nvCxnSpPr>
        <p:spPr>
          <a:xfrm>
            <a:off x="5920000" y="5500000"/>
            <a:ext cx="210000" cy="0"/>
          </a:xfrm>
          <a:prstGeom prst="line">
            <a:avLst/>
          </a:prstGeom>
          <a:ln w="28575">
            <a:solidFill>
              <a:srgbClr val="A31111"/>
            </a:solidFill>
            <a:tailEnd type="triangle" w="med" len="med"/>
          </a:ln>
        </p:spPr>
      </p:cxnSp>
      <p:cxnSp>
        <p:nvCxnSpPr>
          <p:cNvPr id="1018" name="Arrow 1018"/>
          <p:cNvCxnSpPr/>
          <p:nvPr/>
        </p:nvCxnSpPr>
        <p:spPr>
          <a:xfrm>
            <a:off x="11070000" y="5500000"/>
            <a:ext cx="210000" cy="0"/>
          </a:xfrm>
          <a:prstGeom prst="line">
            <a:avLst/>
          </a:prstGeom>
          <a:ln w="28575">
            <a:solidFill>
              <a:srgbClr val="A31111"/>
            </a:solidFill>
            <a:tailEnd type="triangle" w="med" len="med"/>
          </a:ln>
        </p:spPr>
      </p:cxnSp>
      <p:sp>
        <p:nvSpPr>
          <p:cNvPr id="1019" name="Callout 1019"/>
          <p:cNvSpPr/>
          <p:nvPr/>
        </p:nvSpPr>
        <p:spPr>
          <a:xfrm>
            <a:off x="4800000" y="7750000"/>
            <a:ext cx="9600000" cy="1000000"/>
          </a:xfrm>
          <a:prstGeom prst="roundRect">
            <a:avLst>
              <a:gd name="adj" fmla="val 14000"/>
            </a:avLst>
          </a:prstGeom>
          <a:solidFill>
            <a:srgbClr val="FBE9E9"/>
          </a:solidFill>
          <a:ln w="12700">
            <a:solidFill>
              <a:srgbClr val="EBC8C8"/>
            </a:solidFill>
          </a:ln>
        </p:spPr>
        <p:txBody>
          <a:bodyPr wrap="square" lIns="180000" tIns="90000" rIns="180000" bIns="9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A31111"/>
                </a:solidFill>
                <a:latin typeface="Arial"/>
                <a:cs typeface="Arial"/>
              </a:rPr>
              <a:t>Target users: </a:t>
            </a: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Class 10 students and their parents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0000" y="1330000"/>
            <a:ext cx="14500000" cy="90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n-US" sz="4800" b="1" dirty="0">
                <a:solidFill>
                  <a:srgbClr val="A31111"/>
                </a:solidFill>
                <a:latin typeface="Tahoma"/>
                <a:cs typeface="Tahoma"/>
              </a:rPr>
              <a:t>IDEA TITLE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sp>
        <p:nvSpPr>
          <p:cNvPr id="1020" name="IdeaBanner 1020"/>
          <p:cNvSpPr/>
          <p:nvPr/>
        </p:nvSpPr>
        <p:spPr>
          <a:xfrm>
            <a:off x="1000000" y="2450000"/>
            <a:ext cx="15200000" cy="1750000"/>
          </a:xfrm>
          <a:prstGeom prst="roundRect">
            <a:avLst>
              <a:gd name="adj" fmla="val 8000"/>
            </a:avLst>
          </a:prstGeom>
          <a:solidFill>
            <a:srgbClr val="A31111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4800" b="1" i="0" dirty="0">
                <a:solidFill>
                  <a:srgbClr val="FFFFFF"/>
                </a:solidFill>
                <a:latin typeface="Arial"/>
                <a:cs typeface="Arial"/>
              </a:rPr>
              <a:t>PathSim AI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600" b="0" i="0" dirty="0">
                <a:solidFill>
                  <a:srgbClr val="FFFFFF"/>
                </a:solidFill>
                <a:latin typeface="Arial"/>
                <a:cs typeface="Arial"/>
              </a:rPr>
              <a:t>Class 10 to Career Decision Simulator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F6CFCF"/>
                </a:solidFill>
                <a:latin typeface="Arial"/>
                <a:cs typeface="Arial"/>
              </a:rPr>
              <a:t>Explore  •  Test-drive  •  Stress-test your future</a:t>
            </a:r>
          </a:p>
        </p:txBody>
      </p:sp>
      <p:sp>
        <p:nvSpPr>
          <p:cNvPr id="1021" name="Feature 1021"/>
          <p:cNvSpPr/>
          <p:nvPr/>
        </p:nvSpPr>
        <p:spPr>
          <a:xfrm>
            <a:off x="1000000" y="4500000"/>
            <a:ext cx="3600000" cy="28000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22" name="Num 1022"/>
          <p:cNvSpPr/>
          <p:nvPr/>
        </p:nvSpPr>
        <p:spPr>
          <a:xfrm>
            <a:off x="1200000" y="4700000"/>
            <a:ext cx="650000" cy="650000"/>
          </a:xfrm>
          <a:prstGeom prst="ellipse">
            <a:avLst/>
          </a:prstGeom>
          <a:solidFill>
            <a:srgbClr val="A3111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023" name="Text 1023"/>
          <p:cNvSpPr txBox="1"/>
          <p:nvPr/>
        </p:nvSpPr>
        <p:spPr>
          <a:xfrm>
            <a:off x="1200000" y="5480000"/>
            <a:ext cx="3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dirty="0">
                <a:solidFill>
                  <a:srgbClr val="A31111"/>
                </a:solidFill>
                <a:latin typeface="Arial"/>
                <a:cs typeface="Arial"/>
              </a:rPr>
              <a:t>Interactive Skill-Tree</a:t>
            </a:r>
          </a:p>
        </p:txBody>
      </p:sp>
      <p:sp>
        <p:nvSpPr>
          <p:cNvPr id="1024" name="Text 1024"/>
          <p:cNvSpPr txBox="1"/>
          <p:nvPr/>
        </p:nvSpPr>
        <p:spPr>
          <a:xfrm>
            <a:off x="1200000" y="6050000"/>
            <a:ext cx="320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Live map from Class 10 to job, coloured by fit and cost</a:t>
            </a:r>
          </a:p>
        </p:txBody>
      </p:sp>
      <p:sp>
        <p:nvSpPr>
          <p:cNvPr id="1025" name="Feature 1025"/>
          <p:cNvSpPr/>
          <p:nvPr/>
        </p:nvSpPr>
        <p:spPr>
          <a:xfrm>
            <a:off x="4866666" y="4500000"/>
            <a:ext cx="3600000" cy="28000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26" name="Num 1026"/>
          <p:cNvSpPr/>
          <p:nvPr/>
        </p:nvSpPr>
        <p:spPr>
          <a:xfrm>
            <a:off x="5066666" y="4700000"/>
            <a:ext cx="650000" cy="650000"/>
          </a:xfrm>
          <a:prstGeom prst="ellipse">
            <a:avLst/>
          </a:prstGeom>
          <a:solidFill>
            <a:srgbClr val="A3111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27" name="Text 1027"/>
          <p:cNvSpPr txBox="1"/>
          <p:nvPr/>
        </p:nvSpPr>
        <p:spPr>
          <a:xfrm>
            <a:off x="5066666" y="5480000"/>
            <a:ext cx="3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dirty="0">
                <a:solidFill>
                  <a:srgbClr val="A31111"/>
                </a:solidFill>
                <a:latin typeface="Arial"/>
                <a:cs typeface="Arial"/>
              </a:rPr>
              <a:t>Work-Day Simulator</a:t>
            </a:r>
          </a:p>
        </p:txBody>
      </p:sp>
      <p:sp>
        <p:nvSpPr>
          <p:cNvPr id="1028" name="Text 1028"/>
          <p:cNvSpPr txBox="1"/>
          <p:nvPr/>
        </p:nvSpPr>
        <p:spPr>
          <a:xfrm>
            <a:off x="5066666" y="6050000"/>
            <a:ext cx="320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5-minute career preview that sharpens role fit</a:t>
            </a:r>
          </a:p>
        </p:txBody>
      </p:sp>
      <p:sp>
        <p:nvSpPr>
          <p:cNvPr id="1029" name="Feature 1029"/>
          <p:cNvSpPr/>
          <p:nvPr/>
        </p:nvSpPr>
        <p:spPr>
          <a:xfrm>
            <a:off x="8733332" y="4500000"/>
            <a:ext cx="3600000" cy="28000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30" name="Num 1030"/>
          <p:cNvSpPr/>
          <p:nvPr/>
        </p:nvSpPr>
        <p:spPr>
          <a:xfrm>
            <a:off x="8933332" y="4700000"/>
            <a:ext cx="650000" cy="650000"/>
          </a:xfrm>
          <a:prstGeom prst="ellipse">
            <a:avLst/>
          </a:prstGeom>
          <a:solidFill>
            <a:srgbClr val="A3111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031" name="Text 1031"/>
          <p:cNvSpPr txBox="1"/>
          <p:nvPr/>
        </p:nvSpPr>
        <p:spPr>
          <a:xfrm>
            <a:off x="8933332" y="5480000"/>
            <a:ext cx="3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dirty="0">
                <a:solidFill>
                  <a:srgbClr val="A31111"/>
                </a:solidFill>
                <a:latin typeface="Arial"/>
                <a:cs typeface="Arial"/>
              </a:rPr>
              <a:t>Plan B Recalibrator</a:t>
            </a:r>
          </a:p>
        </p:txBody>
      </p:sp>
      <p:sp>
        <p:nvSpPr>
          <p:cNvPr id="1032" name="Text 1032"/>
          <p:cNvSpPr txBox="1"/>
          <p:nvPr/>
        </p:nvSpPr>
        <p:spPr>
          <a:xfrm>
            <a:off x="8933332" y="6050000"/>
            <a:ext cx="320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Missed JEE/NEET or budget cut? Paths re-route instantly</a:t>
            </a:r>
          </a:p>
        </p:txBody>
      </p:sp>
      <p:sp>
        <p:nvSpPr>
          <p:cNvPr id="1033" name="Feature 1033"/>
          <p:cNvSpPr/>
          <p:nvPr/>
        </p:nvSpPr>
        <p:spPr>
          <a:xfrm>
            <a:off x="12599998" y="4500000"/>
            <a:ext cx="3600000" cy="28000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34" name="Num 1034"/>
          <p:cNvSpPr/>
          <p:nvPr/>
        </p:nvSpPr>
        <p:spPr>
          <a:xfrm>
            <a:off x="12799998" y="4700000"/>
            <a:ext cx="650000" cy="650000"/>
          </a:xfrm>
          <a:prstGeom prst="ellipse">
            <a:avLst/>
          </a:prstGeom>
          <a:solidFill>
            <a:srgbClr val="A3111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035" name="Text 1035"/>
          <p:cNvSpPr txBox="1"/>
          <p:nvPr/>
        </p:nvSpPr>
        <p:spPr>
          <a:xfrm>
            <a:off x="12799998" y="5480000"/>
            <a:ext cx="3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dirty="0">
                <a:solidFill>
                  <a:srgbClr val="A31111"/>
                </a:solidFill>
                <a:latin typeface="Arial"/>
                <a:cs typeface="Arial"/>
              </a:rPr>
              <a:t>Student–Parent View</a:t>
            </a:r>
          </a:p>
        </p:txBody>
      </p:sp>
      <p:sp>
        <p:nvSpPr>
          <p:cNvPr id="1036" name="Text 1036"/>
          <p:cNvSpPr txBox="1"/>
          <p:nvPr/>
        </p:nvSpPr>
        <p:spPr>
          <a:xfrm>
            <a:off x="12799998" y="6050000"/>
            <a:ext cx="320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Interest-led and ROI-led views, in English + Hindi/Marathi</a:t>
            </a:r>
          </a:p>
        </p:txBody>
      </p:sp>
      <p:sp>
        <p:nvSpPr>
          <p:cNvPr id="1037" name="Callout 1037"/>
          <p:cNvSpPr/>
          <p:nvPr/>
        </p:nvSpPr>
        <p:spPr>
          <a:xfrm>
            <a:off x="4800000" y="7750000"/>
            <a:ext cx="9600000" cy="1000000"/>
          </a:xfrm>
          <a:prstGeom prst="roundRect">
            <a:avLst>
              <a:gd name="adj" fmla="val 14000"/>
            </a:avLst>
          </a:prstGeom>
          <a:solidFill>
            <a:srgbClr val="FBE9E9"/>
          </a:solidFill>
          <a:ln w="12700">
            <a:solidFill>
              <a:srgbClr val="EBC8C8"/>
            </a:solidFill>
          </a:ln>
        </p:spPr>
        <p:txBody>
          <a:bodyPr wrap="square" lIns="180000" tIns="90000" rIns="180000" bIns="9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A31111"/>
                </a:solidFill>
                <a:latin typeface="Arial"/>
                <a:cs typeface="Arial"/>
              </a:rPr>
              <a:t>Hybrid concept: </a:t>
            </a: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PathFinder AI (decision rigor) + PathSim AI (interactive simulation)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0000" y="1330000"/>
            <a:ext cx="14500000" cy="90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n-US" sz="4800" b="1" dirty="0">
                <a:solidFill>
                  <a:srgbClr val="A31111"/>
                </a:solidFill>
                <a:latin typeface="Tahoma"/>
                <a:cs typeface="Tahoma"/>
              </a:rPr>
              <a:t>TECHNICAL APPROACH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sp>
        <p:nvSpPr>
          <p:cNvPr id="1038" name="Box 1038"/>
          <p:cNvSpPr/>
          <p:nvPr/>
        </p:nvSpPr>
        <p:spPr>
          <a:xfrm>
            <a:off x="1000000" y="3350000"/>
            <a:ext cx="2550000" cy="1600000"/>
          </a:xfrm>
          <a:prstGeom prst="roundRect">
            <a:avLst>
              <a:gd name="adj" fmla="val 12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Arial"/>
                <a:cs typeface="Arial"/>
              </a:rPr>
              <a:t>Student Profile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FFFFFF"/>
                </a:solidFill>
                <a:latin typeface="Arial"/>
                <a:cs typeface="Arial"/>
              </a:rPr>
              <a:t>Marks, RIASEC quiz, budget, risk</a:t>
            </a:r>
          </a:p>
        </p:txBody>
      </p:sp>
      <p:sp>
        <p:nvSpPr>
          <p:cNvPr id="1039" name="Box 1039"/>
          <p:cNvSpPr/>
          <p:nvPr/>
        </p:nvSpPr>
        <p:spPr>
          <a:xfrm>
            <a:off x="4162500" y="3350000"/>
            <a:ext cx="2550000" cy="1600000"/>
          </a:xfrm>
          <a:prstGeom prst="roundRect">
            <a:avLst>
              <a:gd name="adj" fmla="val 12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Arial"/>
                <a:cs typeface="Arial"/>
              </a:rPr>
              <a:t>Pathway Engine + Skill-Tree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FFFFFF"/>
                </a:solidFill>
                <a:latin typeface="Arial"/>
                <a:cs typeface="Arial"/>
              </a:rPr>
              <a:t>Knowledge graph, hybrid recommender</a:t>
            </a:r>
          </a:p>
        </p:txBody>
      </p:sp>
      <p:sp>
        <p:nvSpPr>
          <p:cNvPr id="1040" name="Box 1040"/>
          <p:cNvSpPr/>
          <p:nvPr/>
        </p:nvSpPr>
        <p:spPr>
          <a:xfrm>
            <a:off x="7325000" y="2450000"/>
            <a:ext cx="2550000" cy="1000000"/>
          </a:xfrm>
          <a:prstGeom prst="roundRect">
            <a:avLst>
              <a:gd name="adj" fmla="val 12000"/>
            </a:avLst>
          </a:prstGeom>
          <a:solidFill>
            <a:srgbClr val="FBE9E9"/>
          </a:solidFill>
          <a:ln w="12700">
            <a:solidFill>
              <a:srgbClr val="A31111"/>
            </a:solidFill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200" b="1" i="0" dirty="0">
                <a:solidFill>
                  <a:srgbClr val="A31111"/>
                </a:solidFill>
                <a:latin typeface="Arial"/>
                <a:cs typeface="Arial"/>
              </a:rPr>
              <a:t>Institutions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A31111"/>
                </a:solidFill>
                <a:latin typeface="Arial"/>
                <a:cs typeface="Arial"/>
              </a:rPr>
              <a:t>Fees, cutoffs, location</a:t>
            </a:r>
          </a:p>
        </p:txBody>
      </p:sp>
      <p:sp>
        <p:nvSpPr>
          <p:cNvPr id="1041" name="Box 1041"/>
          <p:cNvSpPr/>
          <p:nvPr/>
        </p:nvSpPr>
        <p:spPr>
          <a:xfrm>
            <a:off x="7325000" y="3650000"/>
            <a:ext cx="2550000" cy="1000000"/>
          </a:xfrm>
          <a:prstGeom prst="roundRect">
            <a:avLst>
              <a:gd name="adj" fmla="val 12000"/>
            </a:avLst>
          </a:prstGeom>
          <a:solidFill>
            <a:srgbClr val="FBE9E9"/>
          </a:solidFill>
          <a:ln w="12700">
            <a:solidFill>
              <a:srgbClr val="A31111"/>
            </a:solidFill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200" b="1" i="0" dirty="0">
                <a:solidFill>
                  <a:srgbClr val="A31111"/>
                </a:solidFill>
                <a:latin typeface="Arial"/>
                <a:cs typeface="Arial"/>
              </a:rPr>
              <a:t>Funding + Loans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A31111"/>
                </a:solidFill>
                <a:latin typeface="Arial"/>
                <a:cs typeface="Arial"/>
              </a:rPr>
              <a:t>Scholarships, EMI, ROI</a:t>
            </a:r>
          </a:p>
        </p:txBody>
      </p:sp>
      <p:sp>
        <p:nvSpPr>
          <p:cNvPr id="1042" name="Box 1042"/>
          <p:cNvSpPr/>
          <p:nvPr/>
        </p:nvSpPr>
        <p:spPr>
          <a:xfrm>
            <a:off x="7325000" y="4850000"/>
            <a:ext cx="2550000" cy="1000000"/>
          </a:xfrm>
          <a:prstGeom prst="roundRect">
            <a:avLst>
              <a:gd name="adj" fmla="val 12000"/>
            </a:avLst>
          </a:prstGeom>
          <a:solidFill>
            <a:srgbClr val="FBE9E9"/>
          </a:solidFill>
          <a:ln w="12700">
            <a:solidFill>
              <a:srgbClr val="A31111"/>
            </a:solidFill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200" b="1" i="0" dirty="0">
                <a:solidFill>
                  <a:srgbClr val="A31111"/>
                </a:solidFill>
                <a:latin typeface="Arial"/>
                <a:cs typeface="Arial"/>
              </a:rPr>
              <a:t>Work-Day Sim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A31111"/>
                </a:solidFill>
                <a:latin typeface="Arial"/>
                <a:cs typeface="Arial"/>
              </a:rPr>
              <a:t>LLM role-fit signal</a:t>
            </a:r>
          </a:p>
        </p:txBody>
      </p:sp>
      <p:sp>
        <p:nvSpPr>
          <p:cNvPr id="1043" name="Box 1043"/>
          <p:cNvSpPr/>
          <p:nvPr/>
        </p:nvSpPr>
        <p:spPr>
          <a:xfrm>
            <a:off x="10487500" y="3350000"/>
            <a:ext cx="2550000" cy="1600000"/>
          </a:xfrm>
          <a:prstGeom prst="roundRect">
            <a:avLst>
              <a:gd name="adj" fmla="val 12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Arial"/>
                <a:cs typeface="Arial"/>
              </a:rPr>
              <a:t>Decision Matrix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FFFFFF"/>
                </a:solidFill>
                <a:latin typeface="Arial"/>
                <a:cs typeface="Arial"/>
              </a:rPr>
              <a:t>Weights + Monte Carlo ranges</a:t>
            </a:r>
          </a:p>
        </p:txBody>
      </p:sp>
      <p:sp>
        <p:nvSpPr>
          <p:cNvPr id="1044" name="Box 1044"/>
          <p:cNvSpPr/>
          <p:nvPr/>
        </p:nvSpPr>
        <p:spPr>
          <a:xfrm>
            <a:off x="13650000" y="3350000"/>
            <a:ext cx="2550000" cy="1600000"/>
          </a:xfrm>
          <a:prstGeom prst="roundRect">
            <a:avLst>
              <a:gd name="adj" fmla="val 12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Arial"/>
                <a:cs typeface="Arial"/>
              </a:rPr>
              <a:t>Student ⇄ Parent View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FFFFFF"/>
                </a:solidFill>
                <a:latin typeface="Arial"/>
                <a:cs typeface="Arial"/>
              </a:rPr>
              <a:t>Roadmap + PDF report</a:t>
            </a:r>
          </a:p>
        </p:txBody>
      </p:sp>
      <p:cxnSp>
        <p:nvCxnSpPr>
          <p:cNvPr id="1045" name="Arrow 1045"/>
          <p:cNvCxnSpPr/>
          <p:nvPr/>
        </p:nvCxnSpPr>
        <p:spPr>
          <a:xfrm>
            <a:off x="3550000" y="4150000"/>
            <a:ext cx="612500" cy="0"/>
          </a:xfrm>
          <a:prstGeom prst="line">
            <a:avLst/>
          </a:prstGeom>
          <a:ln w="28575">
            <a:solidFill>
              <a:srgbClr val="A31111"/>
            </a:solidFill>
            <a:tailEnd type="triangle" w="med" len="med"/>
          </a:ln>
        </p:spPr>
      </p:cxnSp>
      <p:cxnSp>
        <p:nvCxnSpPr>
          <p:cNvPr id="1046" name="Arrow 1046"/>
          <p:cNvCxnSpPr/>
          <p:nvPr/>
        </p:nvCxnSpPr>
        <p:spPr>
          <a:xfrm flipV="1">
            <a:off x="6712500" y="2950000"/>
            <a:ext cx="612500" cy="1200000"/>
          </a:xfrm>
          <a:prstGeom prst="line">
            <a:avLst/>
          </a:prstGeom>
          <a:ln w="28575">
            <a:solidFill>
              <a:srgbClr val="A31111"/>
            </a:solidFill>
            <a:tailEnd type="triangle" w="med" len="med"/>
          </a:ln>
        </p:spPr>
      </p:cxnSp>
      <p:cxnSp>
        <p:nvCxnSpPr>
          <p:cNvPr id="1047" name="Arrow 1047"/>
          <p:cNvCxnSpPr/>
          <p:nvPr/>
        </p:nvCxnSpPr>
        <p:spPr>
          <a:xfrm>
            <a:off x="9875000" y="2950000"/>
            <a:ext cx="612500" cy="1200000"/>
          </a:xfrm>
          <a:prstGeom prst="line">
            <a:avLst/>
          </a:prstGeom>
          <a:ln w="28575">
            <a:solidFill>
              <a:srgbClr val="A31111"/>
            </a:solidFill>
            <a:tailEnd type="triangle" w="med" len="med"/>
          </a:ln>
        </p:spPr>
      </p:cxnSp>
      <p:cxnSp>
        <p:nvCxnSpPr>
          <p:cNvPr id="1048" name="Arrow 1048"/>
          <p:cNvCxnSpPr/>
          <p:nvPr/>
        </p:nvCxnSpPr>
        <p:spPr>
          <a:xfrm>
            <a:off x="6712500" y="4150000"/>
            <a:ext cx="612500" cy="0"/>
          </a:xfrm>
          <a:prstGeom prst="line">
            <a:avLst/>
          </a:prstGeom>
          <a:ln w="28575">
            <a:solidFill>
              <a:srgbClr val="A31111"/>
            </a:solidFill>
            <a:tailEnd type="triangle" w="med" len="med"/>
          </a:ln>
        </p:spPr>
      </p:cxnSp>
      <p:cxnSp>
        <p:nvCxnSpPr>
          <p:cNvPr id="1049" name="Arrow 1049"/>
          <p:cNvCxnSpPr/>
          <p:nvPr/>
        </p:nvCxnSpPr>
        <p:spPr>
          <a:xfrm>
            <a:off x="9875000" y="4150000"/>
            <a:ext cx="612500" cy="0"/>
          </a:xfrm>
          <a:prstGeom prst="line">
            <a:avLst/>
          </a:prstGeom>
          <a:ln w="28575">
            <a:solidFill>
              <a:srgbClr val="A31111"/>
            </a:solidFill>
            <a:tailEnd type="triangle" w="med" len="med"/>
          </a:ln>
        </p:spPr>
      </p:cxnSp>
      <p:cxnSp>
        <p:nvCxnSpPr>
          <p:cNvPr id="1050" name="Arrow 1050"/>
          <p:cNvCxnSpPr/>
          <p:nvPr/>
        </p:nvCxnSpPr>
        <p:spPr>
          <a:xfrm>
            <a:off x="6712500" y="4150000"/>
            <a:ext cx="612500" cy="1200000"/>
          </a:xfrm>
          <a:prstGeom prst="line">
            <a:avLst/>
          </a:prstGeom>
          <a:ln w="28575">
            <a:solidFill>
              <a:srgbClr val="A31111"/>
            </a:solidFill>
            <a:tailEnd type="triangle" w="med" len="med"/>
          </a:ln>
        </p:spPr>
      </p:cxnSp>
      <p:cxnSp>
        <p:nvCxnSpPr>
          <p:cNvPr id="1051" name="Arrow 1051"/>
          <p:cNvCxnSpPr/>
          <p:nvPr/>
        </p:nvCxnSpPr>
        <p:spPr>
          <a:xfrm flipV="1">
            <a:off x="9875000" y="4150000"/>
            <a:ext cx="612500" cy="1200000"/>
          </a:xfrm>
          <a:prstGeom prst="line">
            <a:avLst/>
          </a:prstGeom>
          <a:ln w="28575">
            <a:solidFill>
              <a:srgbClr val="A31111"/>
            </a:solidFill>
            <a:tailEnd type="triangle" w="med" len="med"/>
          </a:ln>
        </p:spPr>
      </p:cxnSp>
      <p:cxnSp>
        <p:nvCxnSpPr>
          <p:cNvPr id="1052" name="Arrow 1052"/>
          <p:cNvCxnSpPr/>
          <p:nvPr/>
        </p:nvCxnSpPr>
        <p:spPr>
          <a:xfrm>
            <a:off x="13037500" y="4150000"/>
            <a:ext cx="612500" cy="0"/>
          </a:xfrm>
          <a:prstGeom prst="line">
            <a:avLst/>
          </a:prstGeom>
          <a:ln w="28575">
            <a:solidFill>
              <a:srgbClr val="A31111"/>
            </a:solidFill>
            <a:tailEnd type="triangle" w="med" len="med"/>
          </a:ln>
        </p:spPr>
      </p:cxnSp>
      <p:sp>
        <p:nvSpPr>
          <p:cNvPr id="1053" name="Text 1053"/>
          <p:cNvSpPr txBox="1"/>
          <p:nvPr/>
        </p:nvSpPr>
        <p:spPr>
          <a:xfrm>
            <a:off x="7325000" y="2130000"/>
            <a:ext cx="25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6B6B6B"/>
                </a:solidFill>
                <a:latin typeface="Arial"/>
                <a:cs typeface="Arial"/>
              </a:rPr>
              <a:t>IN PARALLEL</a:t>
            </a:r>
          </a:p>
        </p:txBody>
      </p:sp>
      <p:sp>
        <p:nvSpPr>
          <p:cNvPr id="1054" name="PlanB 1054"/>
          <p:cNvSpPr/>
          <p:nvPr/>
        </p:nvSpPr>
        <p:spPr>
          <a:xfrm>
            <a:off x="1000000" y="6300000"/>
            <a:ext cx="15200000" cy="750000"/>
          </a:xfrm>
          <a:prstGeom prst="roundRect">
            <a:avLst>
              <a:gd name="adj" fmla="val 30000"/>
            </a:avLst>
          </a:prstGeom>
          <a:solidFill>
            <a:srgbClr val="3A3A3A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Arial"/>
                <a:cs typeface="Arial"/>
              </a:rPr>
              <a:t>Plan B Recalibrator: </a:t>
            </a:r>
            <a:r>
              <a:rPr lang="en-US" sz="2000" b="0" i="0" dirty="0">
                <a:solidFill>
                  <a:srgbClr val="FFFFFF"/>
                </a:solidFill>
                <a:latin typeface="Arial"/>
                <a:cs typeface="Arial"/>
              </a:rPr>
              <a:t>any change in marks, budget or stream re-runs the whole flow</a:t>
            </a:r>
          </a:p>
        </p:txBody>
      </p:sp>
      <p:cxnSp>
        <p:nvCxnSpPr>
          <p:cNvPr id="1055" name="Arrow 1055"/>
          <p:cNvCxnSpPr/>
          <p:nvPr/>
        </p:nvCxnSpPr>
        <p:spPr>
          <a:xfrm>
            <a:off x="11762500" y="4950000"/>
            <a:ext cx="0" cy="1350000"/>
          </a:xfrm>
          <a:prstGeom prst="line">
            <a:avLst/>
          </a:prstGeom>
          <a:ln w="28575">
            <a:solidFill>
              <a:srgbClr val="3A3A3A"/>
            </a:solidFill>
            <a:prstDash val="dash"/>
            <a:tailEnd type="triangle" w="med" len="med"/>
          </a:ln>
        </p:spPr>
      </p:cxnSp>
      <p:cxnSp>
        <p:nvCxnSpPr>
          <p:cNvPr id="1056" name="Arrow 1056"/>
          <p:cNvCxnSpPr/>
          <p:nvPr/>
        </p:nvCxnSpPr>
        <p:spPr>
          <a:xfrm flipV="1">
            <a:off x="2275000" y="4950000"/>
            <a:ext cx="0" cy="1350000"/>
          </a:xfrm>
          <a:prstGeom prst="line">
            <a:avLst/>
          </a:prstGeom>
          <a:ln w="28575">
            <a:solidFill>
              <a:srgbClr val="3A3A3A"/>
            </a:solidFill>
            <a:prstDash val="dash"/>
            <a:tailEnd type="triangle" w="med" len="med"/>
          </a:ln>
        </p:spPr>
      </p:cxnSp>
      <p:sp>
        <p:nvSpPr>
          <p:cNvPr id="1057" name="Text 1057"/>
          <p:cNvSpPr txBox="1"/>
          <p:nvPr/>
        </p:nvSpPr>
        <p:spPr>
          <a:xfrm>
            <a:off x="4800000" y="7500000"/>
            <a:ext cx="96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A31111"/>
                </a:solidFill>
                <a:latin typeface="Arial"/>
                <a:cs typeface="Arial"/>
              </a:rPr>
              <a:t>AI / ML TECHNIQUES</a:t>
            </a:r>
          </a:p>
        </p:txBody>
      </p:sp>
      <p:sp>
        <p:nvSpPr>
          <p:cNvPr id="1058" name="Chip 1058"/>
          <p:cNvSpPr/>
          <p:nvPr/>
        </p:nvSpPr>
        <p:spPr>
          <a:xfrm>
            <a:off x="4800000" y="7950000"/>
            <a:ext cx="1800000" cy="1200000"/>
          </a:xfrm>
          <a:prstGeom prst="roundRect">
            <a:avLst>
              <a:gd name="adj" fmla="val 14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70000" tIns="40000" rIns="70000" bIns="4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B2B2B"/>
                </a:solidFill>
                <a:latin typeface="Arial"/>
                <a:cs typeface="Arial"/>
              </a:rPr>
              <a:t>RIASEC scoring + clustering</a:t>
            </a:r>
          </a:p>
        </p:txBody>
      </p:sp>
      <p:sp>
        <p:nvSpPr>
          <p:cNvPr id="1059" name="Chip 1059"/>
          <p:cNvSpPr/>
          <p:nvPr/>
        </p:nvSpPr>
        <p:spPr>
          <a:xfrm>
            <a:off x="6750000" y="7950000"/>
            <a:ext cx="1800000" cy="1200000"/>
          </a:xfrm>
          <a:prstGeom prst="roundRect">
            <a:avLst>
              <a:gd name="adj" fmla="val 14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70000" tIns="40000" rIns="70000" bIns="4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B2B2B"/>
                </a:solidFill>
                <a:latin typeface="Arial"/>
                <a:cs typeface="Arial"/>
              </a:rPr>
              <a:t>Embeddings + graph traversal</a:t>
            </a:r>
          </a:p>
        </p:txBody>
      </p:sp>
      <p:sp>
        <p:nvSpPr>
          <p:cNvPr id="1060" name="Chip 1060"/>
          <p:cNvSpPr/>
          <p:nvPr/>
        </p:nvSpPr>
        <p:spPr>
          <a:xfrm>
            <a:off x="8700000" y="7950000"/>
            <a:ext cx="1800000" cy="1200000"/>
          </a:xfrm>
          <a:prstGeom prst="roundRect">
            <a:avLst>
              <a:gd name="adj" fmla="val 14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70000" tIns="40000" rIns="70000" bIns="4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B2B2B"/>
                </a:solidFill>
                <a:latin typeface="Arial"/>
                <a:cs typeface="Arial"/>
              </a:rPr>
              <a:t>Logistic regression (admission chance)</a:t>
            </a:r>
          </a:p>
        </p:txBody>
      </p:sp>
      <p:sp>
        <p:nvSpPr>
          <p:cNvPr id="1061" name="Chip 1061"/>
          <p:cNvSpPr/>
          <p:nvPr/>
        </p:nvSpPr>
        <p:spPr>
          <a:xfrm>
            <a:off x="10650000" y="7950000"/>
            <a:ext cx="1800000" cy="1200000"/>
          </a:xfrm>
          <a:prstGeom prst="roundRect">
            <a:avLst>
              <a:gd name="adj" fmla="val 14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70000" tIns="40000" rIns="70000" bIns="4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B2B2B"/>
                </a:solidFill>
                <a:latin typeface="Arial"/>
                <a:cs typeface="Arial"/>
              </a:rPr>
              <a:t>Monte Carlo simulation</a:t>
            </a:r>
          </a:p>
        </p:txBody>
      </p:sp>
      <p:sp>
        <p:nvSpPr>
          <p:cNvPr id="1062" name="Chip 1062"/>
          <p:cNvSpPr/>
          <p:nvPr/>
        </p:nvSpPr>
        <p:spPr>
          <a:xfrm>
            <a:off x="12600000" y="7950000"/>
            <a:ext cx="1800000" cy="1200000"/>
          </a:xfrm>
          <a:prstGeom prst="roundRect">
            <a:avLst>
              <a:gd name="adj" fmla="val 14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70000" tIns="40000" rIns="70000" bIns="4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2B2B2B"/>
                </a:solidFill>
                <a:latin typeface="Arial"/>
                <a:cs typeface="Arial"/>
              </a:rPr>
              <a:t>RAG + Gemini LLM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4" name="object 4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8" name="object 8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000000" y="1330000"/>
            <a:ext cx="14500000" cy="90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n-US" sz="4800" b="1" dirty="0">
                <a:solidFill>
                  <a:srgbClr val="A31111"/>
                </a:solidFill>
                <a:latin typeface="Tahoma"/>
                <a:cs typeface="Tahoma"/>
              </a:rPr>
              <a:t>FEASIBILITY AND VIABILITY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sp>
        <p:nvSpPr>
          <p:cNvPr id="1063" name="Box 1063"/>
          <p:cNvSpPr/>
          <p:nvPr/>
        </p:nvSpPr>
        <p:spPr>
          <a:xfrm>
            <a:off x="1000000" y="2450000"/>
            <a:ext cx="2800000" cy="1500000"/>
          </a:xfrm>
          <a:prstGeom prst="roundRect">
            <a:avLst>
              <a:gd name="adj" fmla="val 10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cs typeface="Arial"/>
              </a:rPr>
              <a:t>0–6 h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FFFFFF"/>
                </a:solidFill>
                <a:latin typeface="Arial"/>
                <a:cs typeface="Arial"/>
              </a:rPr>
              <a:t>Data + graph schema</a:t>
            </a:r>
          </a:p>
        </p:txBody>
      </p:sp>
      <p:cxnSp>
        <p:nvCxnSpPr>
          <p:cNvPr id="1064" name="Arrow 1064"/>
          <p:cNvCxnSpPr/>
          <p:nvPr/>
        </p:nvCxnSpPr>
        <p:spPr>
          <a:xfrm>
            <a:off x="3800000" y="3200000"/>
            <a:ext cx="300000" cy="0"/>
          </a:xfrm>
          <a:prstGeom prst="line">
            <a:avLst/>
          </a:prstGeom>
          <a:ln w="28575">
            <a:solidFill>
              <a:srgbClr val="A31111"/>
            </a:solidFill>
            <a:tailEnd type="triangle" w="med" len="med"/>
          </a:ln>
        </p:spPr>
      </p:cxnSp>
      <p:sp>
        <p:nvSpPr>
          <p:cNvPr id="1065" name="Box 1065"/>
          <p:cNvSpPr/>
          <p:nvPr/>
        </p:nvSpPr>
        <p:spPr>
          <a:xfrm>
            <a:off x="4100000" y="2450000"/>
            <a:ext cx="2800000" cy="1500000"/>
          </a:xfrm>
          <a:prstGeom prst="roundRect">
            <a:avLst>
              <a:gd name="adj" fmla="val 10000"/>
            </a:avLst>
          </a:prstGeom>
          <a:solidFill>
            <a:srgbClr val="3A3A3A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cs typeface="Arial"/>
              </a:rPr>
              <a:t>6–16 h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FFFFFF"/>
                </a:solidFill>
                <a:latin typeface="Arial"/>
                <a:cs typeface="Arial"/>
              </a:rPr>
              <a:t>Backend engine</a:t>
            </a:r>
          </a:p>
        </p:txBody>
      </p:sp>
      <p:cxnSp>
        <p:nvCxnSpPr>
          <p:cNvPr id="1066" name="Arrow 1066"/>
          <p:cNvCxnSpPr/>
          <p:nvPr/>
        </p:nvCxnSpPr>
        <p:spPr>
          <a:xfrm>
            <a:off x="6900000" y="3200000"/>
            <a:ext cx="300000" cy="0"/>
          </a:xfrm>
          <a:prstGeom prst="line">
            <a:avLst/>
          </a:prstGeom>
          <a:ln w="28575">
            <a:solidFill>
              <a:srgbClr val="A31111"/>
            </a:solidFill>
            <a:tailEnd type="triangle" w="med" len="med"/>
          </a:ln>
        </p:spPr>
      </p:cxnSp>
      <p:sp>
        <p:nvSpPr>
          <p:cNvPr id="1067" name="Box 1067"/>
          <p:cNvSpPr/>
          <p:nvPr/>
        </p:nvSpPr>
        <p:spPr>
          <a:xfrm>
            <a:off x="7200000" y="2450000"/>
            <a:ext cx="2800000" cy="1500000"/>
          </a:xfrm>
          <a:prstGeom prst="roundRect">
            <a:avLst>
              <a:gd name="adj" fmla="val 10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cs typeface="Arial"/>
              </a:rPr>
              <a:t>10–24 h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FFFFFF"/>
                </a:solidFill>
                <a:latin typeface="Arial"/>
                <a:cs typeface="Arial"/>
              </a:rPr>
              <a:t>Frontend tree + matrix</a:t>
            </a:r>
          </a:p>
        </p:txBody>
      </p:sp>
      <p:cxnSp>
        <p:nvCxnSpPr>
          <p:cNvPr id="1068" name="Arrow 1068"/>
          <p:cNvCxnSpPr/>
          <p:nvPr/>
        </p:nvCxnSpPr>
        <p:spPr>
          <a:xfrm>
            <a:off x="10000000" y="3200000"/>
            <a:ext cx="300000" cy="0"/>
          </a:xfrm>
          <a:prstGeom prst="line">
            <a:avLst/>
          </a:prstGeom>
          <a:ln w="28575">
            <a:solidFill>
              <a:srgbClr val="A31111"/>
            </a:solidFill>
            <a:tailEnd type="triangle" w="med" len="med"/>
          </a:ln>
        </p:spPr>
      </p:cxnSp>
      <p:sp>
        <p:nvSpPr>
          <p:cNvPr id="1069" name="Box 1069"/>
          <p:cNvSpPr/>
          <p:nvPr/>
        </p:nvSpPr>
        <p:spPr>
          <a:xfrm>
            <a:off x="10300000" y="2450000"/>
            <a:ext cx="2800000" cy="1500000"/>
          </a:xfrm>
          <a:prstGeom prst="roundRect">
            <a:avLst>
              <a:gd name="adj" fmla="val 10000"/>
            </a:avLst>
          </a:prstGeom>
          <a:solidFill>
            <a:srgbClr val="3A3A3A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cs typeface="Arial"/>
              </a:rPr>
              <a:t>24–30 h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FFFFFF"/>
                </a:solidFill>
                <a:latin typeface="Arial"/>
                <a:cs typeface="Arial"/>
              </a:rPr>
              <a:t>Funding, Plan B, sim</a:t>
            </a:r>
          </a:p>
        </p:txBody>
      </p:sp>
      <p:cxnSp>
        <p:nvCxnSpPr>
          <p:cNvPr id="1070" name="Arrow 1070"/>
          <p:cNvCxnSpPr/>
          <p:nvPr/>
        </p:nvCxnSpPr>
        <p:spPr>
          <a:xfrm>
            <a:off x="13100000" y="3200000"/>
            <a:ext cx="300000" cy="0"/>
          </a:xfrm>
          <a:prstGeom prst="line">
            <a:avLst/>
          </a:prstGeom>
          <a:ln w="28575">
            <a:solidFill>
              <a:srgbClr val="A31111"/>
            </a:solidFill>
            <a:tailEnd type="triangle" w="med" len="med"/>
          </a:ln>
        </p:spPr>
      </p:cxnSp>
      <p:sp>
        <p:nvSpPr>
          <p:cNvPr id="1071" name="Box 1071"/>
          <p:cNvSpPr/>
          <p:nvPr/>
        </p:nvSpPr>
        <p:spPr>
          <a:xfrm>
            <a:off x="13400000" y="2450000"/>
            <a:ext cx="2800000" cy="1500000"/>
          </a:xfrm>
          <a:prstGeom prst="roundRect">
            <a:avLst>
              <a:gd name="adj" fmla="val 10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cs typeface="Arial"/>
              </a:rPr>
              <a:t>30–36 h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FFFFFF"/>
                </a:solidFill>
                <a:latin typeface="Arial"/>
                <a:cs typeface="Arial"/>
              </a:rPr>
              <a:t>Polish + demo</a:t>
            </a:r>
          </a:p>
        </p:txBody>
      </p:sp>
      <p:sp>
        <p:nvSpPr>
          <p:cNvPr id="1072" name="Card 1072"/>
          <p:cNvSpPr/>
          <p:nvPr/>
        </p:nvSpPr>
        <p:spPr>
          <a:xfrm>
            <a:off x="1000000" y="4250000"/>
            <a:ext cx="4900000" cy="3200000"/>
          </a:xfrm>
          <a:prstGeom prst="roundRect">
            <a:avLst>
              <a:gd name="adj" fmla="val 5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73" name="Box 1073"/>
          <p:cNvSpPr/>
          <p:nvPr/>
        </p:nvSpPr>
        <p:spPr>
          <a:xfrm>
            <a:off x="1150000" y="4400000"/>
            <a:ext cx="4600000" cy="600000"/>
          </a:xfrm>
          <a:prstGeom prst="roundRect">
            <a:avLst>
              <a:gd name="adj" fmla="val 30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Arial"/>
                <a:cs typeface="Arial"/>
              </a:rPr>
              <a:t>MVP SCOPE</a:t>
            </a:r>
          </a:p>
        </p:txBody>
      </p:sp>
      <p:sp>
        <p:nvSpPr>
          <p:cNvPr id="1074" name="Bullets 1074"/>
          <p:cNvSpPr txBox="1"/>
          <p:nvPr/>
        </p:nvSpPr>
        <p:spPr>
          <a:xfrm>
            <a:off x="1250000" y="5200000"/>
            <a:ext cx="4450000" cy="2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Profile builder + pathway engine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Interactive skill-tree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Institution + loan comparison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Plan B (2 scenarios) + decision matrix</a:t>
            </a:r>
          </a:p>
        </p:txBody>
      </p:sp>
      <p:sp>
        <p:nvSpPr>
          <p:cNvPr id="1075" name="Card 1075"/>
          <p:cNvSpPr/>
          <p:nvPr/>
        </p:nvSpPr>
        <p:spPr>
          <a:xfrm>
            <a:off x="6150000" y="4250000"/>
            <a:ext cx="4900000" cy="3200000"/>
          </a:xfrm>
          <a:prstGeom prst="roundRect">
            <a:avLst>
              <a:gd name="adj" fmla="val 5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76" name="Box 1076"/>
          <p:cNvSpPr/>
          <p:nvPr/>
        </p:nvSpPr>
        <p:spPr>
          <a:xfrm>
            <a:off x="6300000" y="4400000"/>
            <a:ext cx="4600000" cy="600000"/>
          </a:xfrm>
          <a:prstGeom prst="roundRect">
            <a:avLst>
              <a:gd name="adj" fmla="val 30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Arial"/>
                <a:cs typeface="Arial"/>
              </a:rPr>
              <a:t>TECH STACK</a:t>
            </a:r>
          </a:p>
        </p:txBody>
      </p:sp>
      <p:sp>
        <p:nvSpPr>
          <p:cNvPr id="1077" name="Bullets 1077"/>
          <p:cNvSpPr txBox="1"/>
          <p:nvPr/>
        </p:nvSpPr>
        <p:spPr>
          <a:xfrm>
            <a:off x="6400000" y="5200000"/>
            <a:ext cx="4450000" cy="2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Next.js, React Flow, Recharts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FastAPI + scikit-learn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NetworkX, FAISS, SQLite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Gemini API; Vercel + Render</a:t>
            </a:r>
          </a:p>
        </p:txBody>
      </p:sp>
      <p:sp>
        <p:nvSpPr>
          <p:cNvPr id="1078" name="Card 1078"/>
          <p:cNvSpPr/>
          <p:nvPr/>
        </p:nvSpPr>
        <p:spPr>
          <a:xfrm>
            <a:off x="11300000" y="4250000"/>
            <a:ext cx="4900000" cy="3200000"/>
          </a:xfrm>
          <a:prstGeom prst="roundRect">
            <a:avLst>
              <a:gd name="adj" fmla="val 5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79" name="Box 1079"/>
          <p:cNvSpPr/>
          <p:nvPr/>
        </p:nvSpPr>
        <p:spPr>
          <a:xfrm>
            <a:off x="11450000" y="4400000"/>
            <a:ext cx="4600000" cy="600000"/>
          </a:xfrm>
          <a:prstGeom prst="roundRect">
            <a:avLst>
              <a:gd name="adj" fmla="val 30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Arial"/>
                <a:cs typeface="Arial"/>
              </a:rPr>
              <a:t>RISKS → FIXES</a:t>
            </a:r>
          </a:p>
        </p:txBody>
      </p:sp>
      <p:sp>
        <p:nvSpPr>
          <p:cNvPr id="1080" name="Bullets 1080"/>
          <p:cNvSpPr txBox="1"/>
          <p:nvPr/>
        </p:nvSpPr>
        <p:spPr>
          <a:xfrm>
            <a:off x="11550000" y="5200000"/>
            <a:ext cx="4450000" cy="2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Stale data → cached snapshot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Over-steering → multiple options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Overconfidence → ranges, not promises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B2B"/>
                </a:solidFill>
                <a:latin typeface="Arial"/>
                <a:cs typeface="Arial"/>
              </a:rPr>
              <a:t>Scope creep → freeze data at hour 6</a:t>
            </a:r>
          </a:p>
        </p:txBody>
      </p:sp>
      <p:sp>
        <p:nvSpPr>
          <p:cNvPr id="1081" name="Callout 1081"/>
          <p:cNvSpPr/>
          <p:nvPr/>
        </p:nvSpPr>
        <p:spPr>
          <a:xfrm>
            <a:off x="4800000" y="7800000"/>
            <a:ext cx="9600000" cy="1000000"/>
          </a:xfrm>
          <a:prstGeom prst="roundRect">
            <a:avLst>
              <a:gd name="adj" fmla="val 14000"/>
            </a:avLst>
          </a:prstGeom>
          <a:solidFill>
            <a:srgbClr val="FBE9E9"/>
          </a:solidFill>
          <a:ln w="12700">
            <a:solidFill>
              <a:srgbClr val="EBC8C8"/>
            </a:solidFill>
          </a:ln>
        </p:spPr>
        <p:txBody>
          <a:bodyPr wrap="square" lIns="180000" tIns="90000" rIns="180000" bIns="9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A31111"/>
                </a:solidFill>
                <a:latin typeface="Arial"/>
                <a:cs typeface="Arial"/>
              </a:rPr>
              <a:t>Scoped data: </a:t>
            </a:r>
            <a:r>
              <a:rPr lang="en-US" sz="1900" b="0" i="0" dirty="0">
                <a:solidFill>
                  <a:srgbClr val="2B2B2B"/>
                </a:solidFill>
                <a:latin typeface="Arial"/>
                <a:cs typeface="Arial"/>
              </a:rPr>
              <a:t>~8 career clusters  |  ~40 institutions in 4–5 countries  |  ~30 scholarships  |  ~8 loans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0000" y="1330000"/>
            <a:ext cx="14500000" cy="90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n-US" sz="4800" b="1" dirty="0">
                <a:solidFill>
                  <a:srgbClr val="A31111"/>
                </a:solidFill>
                <a:latin typeface="Tahoma"/>
                <a:cs typeface="Tahoma"/>
              </a:rPr>
              <a:t>IMPACT AND 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sp>
        <p:nvSpPr>
          <p:cNvPr id="1082" name="Card 1082"/>
          <p:cNvSpPr/>
          <p:nvPr/>
        </p:nvSpPr>
        <p:spPr>
          <a:xfrm>
            <a:off x="1000000" y="2450000"/>
            <a:ext cx="4900000" cy="3350000"/>
          </a:xfrm>
          <a:prstGeom prst="roundRect">
            <a:avLst>
              <a:gd name="adj" fmla="val 5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83" name="Box 1083"/>
          <p:cNvSpPr/>
          <p:nvPr/>
        </p:nvSpPr>
        <p:spPr>
          <a:xfrm>
            <a:off x="1150000" y="2600000"/>
            <a:ext cx="4600000" cy="600000"/>
          </a:xfrm>
          <a:prstGeom prst="roundRect">
            <a:avLst>
              <a:gd name="adj" fmla="val 30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Arial"/>
                <a:cs typeface="Arial"/>
              </a:rPr>
              <a:t>STUDENTS</a:t>
            </a:r>
          </a:p>
        </p:txBody>
      </p:sp>
      <p:sp>
        <p:nvSpPr>
          <p:cNvPr id="1084" name="Bullets 1084"/>
          <p:cNvSpPr txBox="1"/>
          <p:nvPr/>
        </p:nvSpPr>
        <p:spPr>
          <a:xfrm>
            <a:off x="1250000" y="3400000"/>
            <a:ext cx="4450000" cy="2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Explore careers before committing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Know a Plan B in advance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See true cost and funding options</a:t>
            </a:r>
          </a:p>
        </p:txBody>
      </p:sp>
      <p:sp>
        <p:nvSpPr>
          <p:cNvPr id="1085" name="Card 1085"/>
          <p:cNvSpPr/>
          <p:nvPr/>
        </p:nvSpPr>
        <p:spPr>
          <a:xfrm>
            <a:off x="6150000" y="2450000"/>
            <a:ext cx="4900000" cy="3350000"/>
          </a:xfrm>
          <a:prstGeom prst="roundRect">
            <a:avLst>
              <a:gd name="adj" fmla="val 5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86" name="Box 1086"/>
          <p:cNvSpPr/>
          <p:nvPr/>
        </p:nvSpPr>
        <p:spPr>
          <a:xfrm>
            <a:off x="6300000" y="2600000"/>
            <a:ext cx="4600000" cy="600000"/>
          </a:xfrm>
          <a:prstGeom prst="roundRect">
            <a:avLst>
              <a:gd name="adj" fmla="val 30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Arial"/>
                <a:cs typeface="Arial"/>
              </a:rPr>
              <a:t>PARENTS</a:t>
            </a:r>
          </a:p>
        </p:txBody>
      </p:sp>
      <p:sp>
        <p:nvSpPr>
          <p:cNvPr id="1087" name="Bullets 1087"/>
          <p:cNvSpPr txBox="1"/>
          <p:nvPr/>
        </p:nvSpPr>
        <p:spPr>
          <a:xfrm>
            <a:off x="6400000" y="3400000"/>
            <a:ext cx="4450000" cy="2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Clear cost, loan and ROI view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Risk shown as ranges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Same data, family-friendly view</a:t>
            </a:r>
          </a:p>
        </p:txBody>
      </p:sp>
      <p:sp>
        <p:nvSpPr>
          <p:cNvPr id="1088" name="Card 1088"/>
          <p:cNvSpPr/>
          <p:nvPr/>
        </p:nvSpPr>
        <p:spPr>
          <a:xfrm>
            <a:off x="11300000" y="2450000"/>
            <a:ext cx="4900000" cy="3350000"/>
          </a:xfrm>
          <a:prstGeom prst="roundRect">
            <a:avLst>
              <a:gd name="adj" fmla="val 5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89" name="Box 1089"/>
          <p:cNvSpPr/>
          <p:nvPr/>
        </p:nvSpPr>
        <p:spPr>
          <a:xfrm>
            <a:off x="11450000" y="2600000"/>
            <a:ext cx="4600000" cy="600000"/>
          </a:xfrm>
          <a:prstGeom prst="roundRect">
            <a:avLst>
              <a:gd name="adj" fmla="val 30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Arial"/>
                <a:cs typeface="Arial"/>
              </a:rPr>
              <a:t>SOCIETY</a:t>
            </a:r>
          </a:p>
        </p:txBody>
      </p:sp>
      <p:sp>
        <p:nvSpPr>
          <p:cNvPr id="1090" name="Bullets 1090"/>
          <p:cNvSpPr txBox="1"/>
          <p:nvPr/>
        </p:nvSpPr>
        <p:spPr>
          <a:xfrm>
            <a:off x="11550000" y="3400000"/>
            <a:ext cx="4450000" cy="2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Fewer stream–interest mismatches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Better access for low-income families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2200" b="0" i="0" dirty="0">
                <a:solidFill>
                  <a:srgbClr val="2B2B2B"/>
                </a:solidFill>
                <a:latin typeface="Arial"/>
                <a:cs typeface="Arial"/>
              </a:rPr>
              <a:t>Wider view of global options</a:t>
            </a:r>
          </a:p>
        </p:txBody>
      </p:sp>
      <p:sp>
        <p:nvSpPr>
          <p:cNvPr id="1091" name="Before 1091"/>
          <p:cNvSpPr/>
          <p:nvPr/>
        </p:nvSpPr>
        <p:spPr>
          <a:xfrm>
            <a:off x="1000000" y="6100000"/>
            <a:ext cx="6900000" cy="1200000"/>
          </a:xfrm>
          <a:prstGeom prst="roundRect">
            <a:avLst>
              <a:gd name="adj" fmla="val 14000"/>
            </a:avLst>
          </a:prstGeom>
          <a:solidFill>
            <a:srgbClr val="F4F4F4"/>
          </a:solidFill>
          <a:ln w="12700">
            <a:solidFill>
              <a:srgbClr val="CFCFCF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6B6B6B"/>
                </a:solidFill>
                <a:latin typeface="Arial"/>
                <a:cs typeface="Arial"/>
              </a:rPr>
              <a:t>TODAY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dirty="0">
                <a:solidFill>
                  <a:srgbClr val="2B2B2B"/>
                </a:solidFill>
                <a:latin typeface="Arial"/>
                <a:cs typeface="Arial"/>
              </a:rPr>
              <a:t>3 options + a quiz, no Plan B</a:t>
            </a:r>
          </a:p>
        </p:txBody>
      </p:sp>
      <p:cxnSp>
        <p:nvCxnSpPr>
          <p:cNvPr id="1092" name="Arrow 1092"/>
          <p:cNvCxnSpPr/>
          <p:nvPr/>
        </p:nvCxnSpPr>
        <p:spPr>
          <a:xfrm>
            <a:off x="7950000" y="6700000"/>
            <a:ext cx="1300000" cy="0"/>
          </a:xfrm>
          <a:prstGeom prst="line">
            <a:avLst/>
          </a:prstGeom>
          <a:ln w="28575">
            <a:solidFill>
              <a:srgbClr val="A31111"/>
            </a:solidFill>
            <a:tailEnd type="triangle" w="med" len="med"/>
          </a:ln>
        </p:spPr>
      </p:cxnSp>
      <p:sp>
        <p:nvSpPr>
          <p:cNvPr id="1093" name="After 1093"/>
          <p:cNvSpPr/>
          <p:nvPr/>
        </p:nvSpPr>
        <p:spPr>
          <a:xfrm>
            <a:off x="9300000" y="6100000"/>
            <a:ext cx="6900000" cy="1200000"/>
          </a:xfrm>
          <a:prstGeom prst="roundRect">
            <a:avLst>
              <a:gd name="adj" fmla="val 14000"/>
            </a:avLst>
          </a:prstGeom>
          <a:solidFill>
            <a:srgbClr val="A31111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6CFCF"/>
                </a:solidFill>
                <a:latin typeface="Arial"/>
                <a:cs typeface="Arial"/>
              </a:rPr>
              <a:t>WITH PATHSIM AI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dirty="0">
                <a:solidFill>
                  <a:srgbClr val="FFFFFF"/>
                </a:solidFill>
                <a:latin typeface="Arial"/>
                <a:cs typeface="Arial"/>
              </a:rPr>
              <a:t>Multiple pathways, costs, risks, Plan B</a:t>
            </a:r>
          </a:p>
        </p:txBody>
      </p:sp>
      <p:sp>
        <p:nvSpPr>
          <p:cNvPr id="1094" name="Callout 1094"/>
          <p:cNvSpPr/>
          <p:nvPr/>
        </p:nvSpPr>
        <p:spPr>
          <a:xfrm>
            <a:off x="4800000" y="7750000"/>
            <a:ext cx="9600000" cy="1000000"/>
          </a:xfrm>
          <a:prstGeom prst="roundRect">
            <a:avLst>
              <a:gd name="adj" fmla="val 14000"/>
            </a:avLst>
          </a:prstGeom>
          <a:solidFill>
            <a:srgbClr val="FBE9E9"/>
          </a:solidFill>
          <a:ln w="12700">
            <a:solidFill>
              <a:srgbClr val="EBC8C8"/>
            </a:solidFill>
          </a:ln>
        </p:spPr>
        <p:txBody>
          <a:bodyPr wrap="square" lIns="180000" tIns="90000" rIns="180000" bIns="9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A31111"/>
                </a:solidFill>
                <a:latin typeface="Arial"/>
                <a:cs typeface="Arial"/>
              </a:rPr>
              <a:t>Why it stands out: </a:t>
            </a:r>
            <a:r>
              <a:rPr lang="en-US" sz="1900" b="0" i="0" dirty="0">
                <a:solidFill>
                  <a:srgbClr val="2B2B2B"/>
                </a:solidFill>
                <a:latin typeface="Arial"/>
                <a:cs typeface="Arial"/>
              </a:rPr>
              <a:t>covers every expected outcome, interactive, honest about uncertainty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0000" y="1330000"/>
            <a:ext cx="14500000" cy="90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n-US" sz="4800" b="1" dirty="0">
                <a:solidFill>
                  <a:srgbClr val="A31111"/>
                </a:solidFill>
                <a:latin typeface="Tahoma"/>
                <a:cs typeface="Tahoma"/>
              </a:rPr>
              <a:t>RESEARCH AND 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sp>
        <p:nvSpPr>
          <p:cNvPr id="1095" name="RefCard 1095"/>
          <p:cNvSpPr/>
          <p:nvPr/>
        </p:nvSpPr>
        <p:spPr>
          <a:xfrm>
            <a:off x="1000000" y="2450000"/>
            <a:ext cx="7450000" cy="5000000"/>
          </a:xfrm>
          <a:prstGeom prst="roundRect">
            <a:avLst>
              <a:gd name="adj" fmla="val 4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96" name="Box 1096"/>
          <p:cNvSpPr/>
          <p:nvPr/>
        </p:nvSpPr>
        <p:spPr>
          <a:xfrm>
            <a:off x="1150000" y="2600000"/>
            <a:ext cx="7150000" cy="600000"/>
          </a:xfrm>
          <a:prstGeom prst="roundRect">
            <a:avLst>
              <a:gd name="adj" fmla="val 30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Arial"/>
                <a:cs typeface="Arial"/>
              </a:rPr>
              <a:t>RESEARCH FOUNDATIONS</a:t>
            </a:r>
          </a:p>
        </p:txBody>
      </p:sp>
      <p:sp>
        <p:nvSpPr>
          <p:cNvPr id="1097" name="Text 1097"/>
          <p:cNvSpPr txBox="1"/>
          <p:nvPr/>
        </p:nvSpPr>
        <p:spPr>
          <a:xfrm>
            <a:off x="1250000" y="3450000"/>
            <a:ext cx="695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b="0" i="0" dirty="0">
                <a:solidFill>
                  <a:srgbClr val="2B2B2B"/>
                </a:solidFill>
                <a:latin typeface="Arial"/>
                <a:cs typeface="Arial"/>
              </a:rPr>
              <a:t>[1] Holland, J. L. (1997). Making Vocational Choices: A Theory of Vocational Personalities and Work Environments (RIASEC model).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b="0" i="0" dirty="0">
                <a:solidFill>
                  <a:srgbClr val="2B2B2B"/>
                </a:solidFill>
                <a:latin typeface="Arial"/>
                <a:cs typeface="Arial"/>
              </a:rPr>
              <a:t>[2] Frey, C. B. &amp; Osborne, M. A. (2017). The future of employment: How susceptible are jobs to computerisation? Technol. Forecast. Soc. Change, 114.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b="0" i="0" dirty="0">
                <a:solidFill>
                  <a:srgbClr val="2B2B2B"/>
                </a:solidFill>
                <a:latin typeface="Arial"/>
                <a:cs typeface="Arial"/>
              </a:rPr>
              <a:t>[3] Reimers, N. &amp; Gurevych, I. (2019). Sentence-BERT: Sentence embeddings using Siamese BERT-networks. EMNLP.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b="0" i="0" dirty="0">
                <a:solidFill>
                  <a:srgbClr val="2B2B2B"/>
                </a:solidFill>
                <a:latin typeface="Arial"/>
                <a:cs typeface="Arial"/>
              </a:rPr>
              <a:t>[4] Lewis, P. et al. (2020). Retrieval-Augmented Generation for knowledge-intensive NLP tasks. NeurIPS.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b="0" i="0" dirty="0">
                <a:solidFill>
                  <a:srgbClr val="2B2B2B"/>
                </a:solidFill>
                <a:latin typeface="Arial"/>
                <a:cs typeface="Arial"/>
              </a:rPr>
              <a:t>[5] Johnson, J., Douze, M. &amp; Jégou, H. (2019). Billion-scale similarity search with GPUs (FAISS). IEEE Trans. Big Data.</a:t>
            </a:r>
          </a:p>
        </p:txBody>
      </p:sp>
      <p:sp>
        <p:nvSpPr>
          <p:cNvPr id="1098" name="RefCard 1098"/>
          <p:cNvSpPr/>
          <p:nvPr/>
        </p:nvSpPr>
        <p:spPr>
          <a:xfrm>
            <a:off x="8750000" y="2450000"/>
            <a:ext cx="7450000" cy="5000000"/>
          </a:xfrm>
          <a:prstGeom prst="roundRect">
            <a:avLst>
              <a:gd name="adj" fmla="val 4000"/>
            </a:avLst>
          </a:prstGeom>
          <a:solidFill>
            <a:srgbClr val="FCEFEF"/>
          </a:solidFill>
          <a:ln w="12700">
            <a:solidFill>
              <a:srgbClr val="EBC8C8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99" name="Box 1099"/>
          <p:cNvSpPr/>
          <p:nvPr/>
        </p:nvSpPr>
        <p:spPr>
          <a:xfrm>
            <a:off x="8900000" y="2600000"/>
            <a:ext cx="7150000" cy="600000"/>
          </a:xfrm>
          <a:prstGeom prst="roundRect">
            <a:avLst>
              <a:gd name="adj" fmla="val 30000"/>
            </a:avLst>
          </a:prstGeom>
          <a:solidFill>
            <a:srgbClr val="A3111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Arial"/>
                <a:cs typeface="Arial"/>
              </a:rPr>
              <a:t>DATA SOURCES AND TOOLS</a:t>
            </a:r>
          </a:p>
        </p:txBody>
      </p:sp>
      <p:sp>
        <p:nvSpPr>
          <p:cNvPr id="1100" name="Text 1100"/>
          <p:cNvSpPr txBox="1"/>
          <p:nvPr/>
        </p:nvSpPr>
        <p:spPr>
          <a:xfrm>
            <a:off x="9000000" y="3450000"/>
            <a:ext cx="695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B2B2B"/>
                </a:solidFill>
                <a:latin typeface="Arial"/>
                <a:cs typeface="Arial"/>
              </a:rPr>
              <a:t>NIRF Rankings – institution data (nirfindia.org)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B2B2B"/>
                </a:solidFill>
                <a:latin typeface="Arial"/>
                <a:cs typeface="Arial"/>
              </a:rPr>
              <a:t>National Scholarship Portal – scholarships (scholarships.gov.in)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B2B2B"/>
                </a:solidFill>
                <a:latin typeface="Arial"/>
                <a:cs typeface="Arial"/>
              </a:rPr>
              <a:t>Vidya Lakshmi Portal – education loans (vidyalakshmi.co.in)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B2B2B"/>
                </a:solidFill>
                <a:latin typeface="Arial"/>
                <a:cs typeface="Arial"/>
              </a:rPr>
              <a:t>Adzuna API – salary data, with cached fallback (developer.adzuna.com)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A31111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B2B2B"/>
                </a:solidFill>
                <a:latin typeface="Arial"/>
                <a:cs typeface="Arial"/>
              </a:rPr>
              <a:t>Open-source tools: NetworkX, scikit-learn, FastAPI, React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790</Words>
  <Application>Microsoft Office PowerPoint</Application>
  <PresentationFormat>Custom</PresentationFormat>
  <Paragraphs>126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Tahoma</vt:lpstr>
      <vt:lpstr>Office Theme</vt:lpstr>
      <vt:lpstr>PROBLEM STATEMENT</vt:lpstr>
      <vt:lpstr>ABSTRACT</vt:lpstr>
      <vt:lpstr>IDEA TITLE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creator>ANUSKA MISRA</dc:creator>
  <cp:keywords>DAHU36V0dv4,BAGxJYCPDqA</cp:keywords>
  <cp:lastModifiedBy>maitrisudrik2007@outlook.com</cp:lastModifiedBy>
  <cp:revision>2</cp:revision>
  <dcterms:created xsi:type="dcterms:W3CDTF">2026-09-13T07:01:52Z</dcterms:created>
  <dcterms:modified xsi:type="dcterms:W3CDTF">2026-09-29T17:41:03Z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2026-09-12T00:00:00Z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2026-09-13T00:00:00Z</vt:filetime>
  </property>
  <property fmtid="{D5CDD505-2E9C-101B-9397-08002B2CF9AE}" pid="6" name="Producer">
    <vt:lpwstr>Canva</vt:lpwstr>
  </property>
</Properties>
</file>